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60A5FA"/>
            </a:solidFill>
          </c:spPr>
          <c:cat>
            <c:strRef>
              <c:f>Sheet1!$A$2:$A$3</c:f>
              <c:strCache>
                <c:ptCount val="2"/>
                <c:pt idx="0">
                  <c:v>Экскаватор</c:v>
                </c:pt>
                <c:pt idx="1">
                  <c:v>Самосвал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0.93</c:v>
                </c:pt>
                <c:pt idx="1">
                  <c:v>0.05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BBF24"/>
            </a:solidFill>
          </c:spPr>
          <c:cat>
            <c:strRef>
              <c:f>Sheet1!$A$2:$A$3</c:f>
              <c:strCache>
                <c:ptCount val="2"/>
                <c:pt idx="0">
                  <c:v>Экскаватор</c:v>
                </c:pt>
                <c:pt idx="1">
                  <c:v>Самосвал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0.78</c:v>
                </c:pt>
                <c:pt idx="1">
                  <c:v>1.0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00">
                  <a:solidFill>
                    <a:srgbClr val="EEF2F8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C3A54"/>
            </a:solidFill>
          </a:ln>
        </c:spPr>
        <c:txPr>
          <a:bodyPr/>
          <a:lstStyle/>
          <a:p>
            <a:pPr>
              <a:defRPr>
                <a:solidFill>
                  <a:srgbClr val="EEF2F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2C3A5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93A1BD"/>
                </a:solidFill>
              </a:defRPr>
            </a:pPr>
          </a:p>
        </c:txPr>
        <c:crossAx val="-2068027336"/>
        <c:crosses val="autoZero"/>
        <c:majorUnit val="0.25"/>
      </c:valAx>
    </c:plotArea>
    <c:legend>
      <c:legendPos val="b"/>
      <c:overlay val="0"/>
      <c:txPr>
        <a:bodyPr/>
        <a:lstStyle/>
        <a:p>
          <a:pPr>
            <a:defRPr>
              <a:solidFill>
                <a:srgbClr val="EEF2F8"/>
              </a:solidFill>
            </a:defRPr>
          </a:pPr>
        </a:p>
      </c:txPr>
    </c:legend>
    <c:dispBlanksAs val="gap"/>
  </c:chart>
  <c:txPr>
    <a:bodyPr/>
    <a:lstStyle/>
    <a:p>
      <a:pPr>
        <a:defRPr sz="1200">
          <a:solidFill>
            <a:srgbClr val="93A1BD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секунд. Представьтесь и назовите задачу. Одна фраза: «BuildVision превращает снимок с камеры в решение: идёт ли работа по графику и что грозит сроку сдачи». Три бейджа — три ИИ-движка, к ним вернёмся.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секунд. Контроль сегодня ручной: смотрят камеры, звонят подрядчикам, оценивают на глаз. Данные есть — понимания нет. Цитата из ТЗ задаёт цель: предотвращать, а не разбирать последствия.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секунд. Пять шагов конвейера. Подчеркните: каждый шаг объясним, и на выходе не «оценка нейросети», а вывод с доказательством. Три исхода проверки — включая «Недостаточно данных»: это сознательная честность.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секунд — обязательная схема из ТЗ (п. 4). Идём по стрелкам: снимок и дата → зона кадра → активный этап → правило этапа. Модель находит технику, мы сравниваем факт с планом по количеству. Справа реальный экран: самосвалов на площадке 2 из 4 — это ровно пример из ТЗ про нехватку самосвалов. Сроки этапов задаёт пользователь — так разрешили организаторы.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 секунд. Живой экран «Демонстрационный разбор». Загружаем кадр — получаем рамки, список техники, стадию работ и готовность по фото. Классы ИИ выбирает строго из нашего словаря, добавить «свою» технику он не может. ИИ-разметка занимает 3–7 секунд на кадр. Честно скажите: рамки приблизительные.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секунд. Логика выбора: данных без разметки мало, значит zero-shot; железо обычное, значит CPU; заказчику нужна управляемость, значит корректор, который дообучается на коррекциях, а не «чёрный ящик». Языковая модель — подключаемый слой: в закрытом контуре её заменяет локальная через тот же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секунд — слайд доверия. Заказчик сам сказал, что оценивает качество экспертно и важнее бизнес-логика. Мы показываем реальные цифры, включая плохие: самосвал даёт много ложных срабатываний. Это не скрываем, а закрываем механизмами: статус «Недостаточно данных», проверка языковой моделью, корректор.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 секунд — главный слайд по критериям. Заказчик прямо сказал: приоритет — бизнес-логика и методология. Правила считают количество техники, а не факт наличия класса. Работа/простой определяется по зоне и сравнению кадров. Семь типов отклонений. Отклонение живёт: обновляется, закрывается только достоверным кадром. Критический путь переводит нехватку техники в дни задержки сдачи.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секунд. Заказчик требовал определять «работает или простаивает» и предупреждать о непросматриваемых частях площадки. Оба требования закрыты зонами кадра. На экране инженер обводит зоны прямо на снимке камеры.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секунд. Главный экран проекта. Красная карточка «Нехватка техники» показывает причину, этап, зону и число снимков, подтвердивших отклонение. Справа список отклонений с миниатюрами кадров-доказательств.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45 секунд. Конечный пользователь — Департамент. У инспектора десятки объектов, его день начинается с вопроса «где сегодня плохо». Главная величина экрана — число карточек, требующих решения человека; оно должно быть маленьким при большом числе обработанных кадров. Объекты без свежих проверок выделены: отсутствие отклонений там не значит, что всё хорошо.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секунд. Сквозная цепочка: техники не хватает, этап на критическом пути, значит сдвигается дата сдачи. На правой панели — самосвалов 2 из 4. Честно скажите: график и часть значений демонстрационные, реального графика заказчик не передавал; полоса прогнозного перерасхода — демонстрационный сценарий.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секунд. Weather — движок рисков: почасовой прогноз пересекается с этапами графика по настраиваемым правилам, результат объясняется словами. Это не нейросеть прогноза погоды, и так говорить не нужно. На экране демонстрационный риск помечен как демонстрационный. Недоступность источника показывается честно.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секунд. Не говорите «самообучается автоматически». Говорите: система дообучается на коррекциях инженера, версия публикуется вручную, метрики считаются на самих коррекциях, потому что эталонного набора в проекте нет. Для государственного заказчика управляемость — плюс. Внизу — авторазметка: путь к дообучению самого детектора.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секунд. Формулировка, которую можно смело произносить: ядро автономно и работает на обычном CPU без интернета; языковой слой подключаемый — в контуре это локальная модель через тот же API, в демо облачная. При недоступности внешних сервисов система честно показывает «нет данных». Для локальной VLM формат рамок потребует адаптера координат.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секунд. Три роли по словам заказчика: Департамент, застройщики, инженеры. Веб для проекта и надзора, Android для инженера на площадке: снимок с камеры телефона сразу в разбор. Push-уведомлений пока нет — не обещайте их. Добавьте реальные скриншоты с телефона, если успеете их снять.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секунд. Представители заказчика сказали, что хотят сделать сервис модулем своей системы и интересуются временными рядами для прогноза потребности в технике. Оба пункта — в развитии. Ближайшие шаги — реальные камеры, OCR даты, дообучение YOLO.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 — обязательный пункт ТЗ. Числовых требований к высоте установки и разрешению не приводим: они требуют обследования реальной площадки, которого не проводилось. Этот тезис можно сказать вслух — это честно.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секунд. Пройдитесь по четырём обязательным функциям ТЗ и по пожеланиям, которые заказчик озвучил на встрече: работа/простой, стадия по фото, прогноз задержки, отчёт, редактирование плана, слепые зоны.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секунд. Три тезиса: объяснимо, честно, готово к закрытому контуру. Закончите ссылкой на работающий прототип и предложением показать любой экран вживую. Перед сдачей вставьте реальную ссылку на репозиторий.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Резервный слайд для вопросов о модели данных. Подробности в docs/PROJECT_DOCUMENTATION.md, раздел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Резервный слайд. Показывайте, если жюри спросит про ограничения, — это подтверждает честность подхода.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Резервный слайд для питч-сессии: краткие ответы на вероятные вопросы жюри.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60A5FA"/>
                </a:solidFill>
                <a:latin typeface="Segoe UI"/>
              </a:rPr>
              <a:t>ХАКАТОН «ЛИДЕРЫ ЦИФРОВОЙ ТРАНСФОРМАЦИИ 2026» · ЗАДАЧА №7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22960" cy="822960"/>
          </a:xfrm>
          <a:prstGeom prst="roundRect">
            <a:avLst>
              <a:gd name="adj" fmla="val 2000"/>
            </a:avLst>
          </a:prstGeom>
        </p:spPr>
      </p:pic>
      <p:sp>
        <p:nvSpPr>
          <p:cNvPr id="4" name="TextBox 3"/>
          <p:cNvSpPr txBox="1"/>
          <p:nvPr/>
        </p:nvSpPr>
        <p:spPr>
          <a:xfrm>
            <a:off x="548640" y="1965960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EEF2F8"/>
                </a:solidFill>
                <a:latin typeface="Segoe UI"/>
              </a:rPr>
              <a:t>Build</a:t>
            </a:r>
            <a:r>
              <a:rPr sz="5400" b="1" i="0">
                <a:solidFill>
                  <a:srgbClr val="60A5FA"/>
                </a:solidFill>
                <a:latin typeface="Segoe UI"/>
              </a:rPr>
              <a:t>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5486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0" i="0">
                <a:solidFill>
                  <a:srgbClr val="EEF2F8"/>
                </a:solidFill>
                <a:latin typeface="Segoe UI"/>
              </a:rPr>
              <a:t>AI-контроль строительных площадок: от кадра камеры до прогноза срока сдачи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343400"/>
            <a:ext cx="1463040" cy="329184"/>
          </a:xfrm>
          <a:prstGeom prst="roundRect">
            <a:avLst>
              <a:gd name="adj" fmla="val 50000"/>
            </a:avLst>
          </a:prstGeom>
          <a:solidFill>
            <a:srgbClr val="1E304C"/>
          </a:solidFill>
          <a:ln w="9525">
            <a:solidFill>
              <a:srgbClr val="3960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60A5FA"/>
                </a:solidFill>
                <a:latin typeface="Segoe UI"/>
              </a:rPr>
              <a:t>Vision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21408" y="434340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2E2B4C"/>
          </a:solidFill>
          <a:ln w="9525">
            <a:solidFill>
              <a:srgbClr val="694F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C084FC"/>
                </a:solidFill>
                <a:latin typeface="Segoe UI"/>
              </a:rPr>
              <a:t>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31336" y="434340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15384A"/>
          </a:solidFill>
          <a:ln w="9525">
            <a:solidFill>
              <a:srgbClr val="1A76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22D3EE"/>
                </a:solidFill>
                <a:latin typeface="Segoe UI"/>
              </a:rPr>
              <a:t>Weather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56692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Заказчик: Департамент градостроительной политики города Москвы</a:t>
            </a:r>
          </a:p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Задача: «Автоматизированный сервис поиска нарушений на строительных площадках Москвы»</a:t>
            </a:r>
          </a:p>
        </p:txBody>
      </p:sp>
      <p:pic>
        <p:nvPicPr>
          <p:cNvPr id="10" name="Picture 9" descr="dashboa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417320"/>
            <a:ext cx="5120640" cy="2880360"/>
          </a:xfrm>
          <a:prstGeom prst="roundRect">
            <a:avLst>
              <a:gd name="adj" fmla="val 2000"/>
            </a:avLst>
          </a:prstGeom>
          <a:ln w="12700">
            <a:solidFill>
              <a:srgbClr val="2C3A54"/>
            </a:solidFill>
          </a:ln>
        </p:spPr>
      </p:pic>
      <p:pic>
        <p:nvPicPr>
          <p:cNvPr id="11" name="Picture 10" descr="result1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931920"/>
            <a:ext cx="4617720" cy="2832297"/>
          </a:xfrm>
          <a:prstGeom prst="roundRect">
            <a:avLst>
              <a:gd name="adj" fmla="val 2000"/>
            </a:avLst>
          </a:prstGeom>
          <a:ln w="12700">
            <a:solidFill>
              <a:srgbClr val="2C3A54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01 · 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Камеры на стройке есть — вывода нет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66160" cy="1874519"/>
          </a:xfrm>
          <a:prstGeom prst="roundRect">
            <a:avLst>
              <a:gd name="adj" fmla="val 5853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901952"/>
            <a:ext cx="365760" cy="36576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B0F1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9385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EF2F8"/>
                </a:solidFill>
                <a:latin typeface="Segoe UI"/>
              </a:rPr>
              <a:t>Просмотр камер вручную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3A1BD"/>
                </a:solidFill>
                <a:latin typeface="Segoe UI"/>
              </a:rPr>
              <a:t>Трудоёмко и зависит от внимания человека. Снимков много, а картина по площадке не складывается.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91640"/>
            <a:ext cx="3566160" cy="1874519"/>
          </a:xfrm>
          <a:prstGeom prst="roundRect">
            <a:avLst>
              <a:gd name="adj" fmla="val 5853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35424" y="1901952"/>
            <a:ext cx="365760" cy="36576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B0F1A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38344" y="19385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EF2F8"/>
                </a:solidFill>
                <a:latin typeface="Segoe UI"/>
              </a:rPr>
              <a:t>Звонки подрядчикам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51460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3A1BD"/>
                </a:solidFill>
                <a:latin typeface="Segoe UI"/>
              </a:rPr>
              <a:t>Информация приходит с задержкой и в пересказе. Проверить её нечем.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91640"/>
            <a:ext cx="3566160" cy="1874519"/>
          </a:xfrm>
          <a:prstGeom prst="roundRect">
            <a:avLst>
              <a:gd name="adj" fmla="val 5853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93608" y="1901952"/>
            <a:ext cx="365760" cy="36576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B0F1A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6528" y="193852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EEF2F8"/>
                </a:solidFill>
                <a:latin typeface="Segoe UI"/>
              </a:rPr>
              <a:t>Субъективная оценка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51460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93A1BD"/>
                </a:solidFill>
                <a:latin typeface="Segoe UI"/>
              </a:rPr>
              <a:t>Разные люди по одной и той же площадке делают разные выводы о темпе работ.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6858000" cy="2331720"/>
          </a:xfrm>
          <a:prstGeom prst="roundRect">
            <a:avLst>
              <a:gd name="adj" fmla="val 4705"/>
            </a:avLst>
          </a:prstGeom>
          <a:solidFill>
            <a:srgbClr val="172643"/>
          </a:solidFill>
          <a:ln w="9525">
            <a:solidFill>
              <a:srgbClr val="244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04164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ЧТО НУЖНО (ТЗ, П.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389120"/>
            <a:ext cx="6309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EEF2F8"/>
                </a:solidFill>
                <a:latin typeface="Segoe UI"/>
              </a:rPr>
              <a:t>«Перейти от реагирования на уже произошедшие сбои к их предотвращению»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486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7383D"/>
          </a:solidFill>
          <a:ln w="9525">
            <a:solidFill>
              <a:srgbClr val="237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34D399"/>
                </a:solidFill>
                <a:latin typeface="Segoe UI"/>
              </a:rPr>
              <a:t>прозрачность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70048" y="5486400"/>
            <a:ext cx="1920240" cy="329184"/>
          </a:xfrm>
          <a:prstGeom prst="roundRect">
            <a:avLst>
              <a:gd name="adj" fmla="val 50000"/>
            </a:avLst>
          </a:prstGeom>
          <a:solidFill>
            <a:srgbClr val="17383D"/>
          </a:solidFill>
          <a:ln w="9525">
            <a:solidFill>
              <a:srgbClr val="237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34D399"/>
                </a:solidFill>
                <a:latin typeface="Segoe UI"/>
              </a:rPr>
              <a:t>меньше рутины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00016" y="5486400"/>
            <a:ext cx="2377440" cy="329184"/>
          </a:xfrm>
          <a:prstGeom prst="roundRect">
            <a:avLst>
              <a:gd name="adj" fmla="val 50000"/>
            </a:avLst>
          </a:prstGeom>
          <a:solidFill>
            <a:srgbClr val="17383D"/>
          </a:solidFill>
          <a:ln w="9525">
            <a:solidFill>
              <a:srgbClr val="237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34D399"/>
                </a:solidFill>
                <a:latin typeface="Segoe UI"/>
              </a:rPr>
              <a:t>ранние предупреждения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3840480"/>
            <a:ext cx="4050791" cy="2331720"/>
          </a:xfrm>
          <a:prstGeom prst="roundRect">
            <a:avLst>
              <a:gd name="adj" fmla="val 4705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20" y="4041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КТО ПОЛЬЗУЕТСЯ (ПО СЛОВАМ ЗАКАЗЧИКА)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4434840"/>
            <a:ext cx="36118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800"/>
              </a:spcAft>
              <a:buClr>
                <a:srgbClr val="60A5FA"/>
              </a:buClr>
              <a:buFont typeface="Arial"/>
              <a:buChar char="•"/>
            </a:pPr>
            <a:r>
              <a:rPr sz="1300" b="0" i="0">
                <a:solidFill>
                  <a:srgbClr val="EEF2F8"/>
                </a:solidFill>
                <a:latin typeface="Segoe UI"/>
              </a:rPr>
              <a:t>Департамент градостроительной политики</a:t>
            </a:r>
          </a:p>
          <a:p>
            <a:pPr marL="201168" indent="-201168">
              <a:lnSpc>
                <a:spcPct val="105000"/>
              </a:lnSpc>
              <a:spcAft>
                <a:spcPts val="800"/>
              </a:spcAft>
              <a:buClr>
                <a:srgbClr val="60A5FA"/>
              </a:buClr>
              <a:buFont typeface="Arial"/>
              <a:buChar char="•"/>
            </a:pPr>
            <a:r>
              <a:rPr sz="1300" b="0" i="0">
                <a:solidFill>
                  <a:srgbClr val="EEF2F8"/>
                </a:solidFill>
                <a:latin typeface="Segoe UI"/>
              </a:rPr>
              <a:t>Застройщики и руководители строек</a:t>
            </a:r>
          </a:p>
          <a:p>
            <a:pPr marL="201168" indent="-201168">
              <a:lnSpc>
                <a:spcPct val="105000"/>
              </a:lnSpc>
              <a:spcAft>
                <a:spcPts val="800"/>
              </a:spcAft>
              <a:buClr>
                <a:srgbClr val="60A5FA"/>
              </a:buClr>
              <a:buFont typeface="Arial"/>
              <a:buChar char="•"/>
            </a:pPr>
            <a:r>
              <a:rPr sz="1300" b="0" i="0">
                <a:solidFill>
                  <a:srgbClr val="EEF2F8"/>
                </a:solidFill>
                <a:latin typeface="Segoe UI"/>
              </a:rPr>
              <a:t>Инженеры на площадке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02 · 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От снимка до вывода «в графике» или «отстаёт на N дней»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874519"/>
            <a:ext cx="384048" cy="384048"/>
          </a:xfrm>
          <a:prstGeom prst="ellipse">
            <a:avLst/>
          </a:prstGeom>
          <a:solidFill>
            <a:srgbClr val="93A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0B0F1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93A1BD"/>
                </a:solidFill>
                <a:latin typeface="Segoe UI"/>
              </a:rPr>
              <a:t>Снимок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16352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С камеры площадки или с телефона. Раз в 20–30 минут, как предполагает заказчик.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74320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647190"/>
                </a:solidFill>
                <a:latin typeface="Segoe UI"/>
              </a:rP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07208" y="169164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90088" y="1874519"/>
            <a:ext cx="384048" cy="384048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0B0F1A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4231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0A5FA"/>
                </a:solidFill>
                <a:latin typeface="Segoe UI"/>
              </a:rPr>
              <a:t>Vision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816352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Находит технику, ставит рамки, определяет стадию работ и готовность по фото.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74320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647190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5776" y="169164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48656" y="1874519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0B0F1A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24231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22D3EE"/>
                </a:solidFill>
                <a:latin typeface="Segoe UI"/>
              </a:rPr>
              <a:t>Зона и активность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2816352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Работает или простаивает, в рабочей ли зоне, не в опасной ли.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3176" y="274320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647190"/>
                </a:solidFill>
                <a:latin typeface="Segoe U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24344" y="169164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7223" y="1874519"/>
            <a:ext cx="384048" cy="38404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0B0F1A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7223" y="24231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FBBF24"/>
                </a:solidFill>
                <a:latin typeface="Segoe UI"/>
              </a:rPr>
              <a:t>Этап графика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7223" y="2816352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Правила «этап → техника × количество»: план против факта.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743200"/>
            <a:ext cx="20116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0">
                <a:solidFill>
                  <a:srgbClr val="647190"/>
                </a:solidFill>
                <a:latin typeface="Segoe UI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82912" y="1691640"/>
            <a:ext cx="2057400" cy="2468880"/>
          </a:xfrm>
          <a:prstGeom prst="roundRect">
            <a:avLst>
              <a:gd name="adj" fmla="val 5333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65792" y="1874519"/>
            <a:ext cx="384048" cy="38404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 i="0">
                <a:solidFill>
                  <a:srgbClr val="0B0F1A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2423160"/>
            <a:ext cx="1737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34D399"/>
                </a:solidFill>
                <a:latin typeface="Segoe UI"/>
              </a:rPr>
              <a:t>Вывод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816352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Отклонение с доказательством, критический путь, прогноз срока.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38912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1A2840"/>
          </a:solidFill>
          <a:ln w="9525">
            <a:solidFill>
              <a:srgbClr val="31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0A5FA"/>
                </a:solidFill>
                <a:latin typeface="Segoe UI"/>
              </a:rPr>
              <a:t>Vision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8920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EEF2F8"/>
                </a:solidFill>
                <a:latin typeface="Segoe UI"/>
              </a:rPr>
              <a:t>видит технику, стадию и готовность по фотографии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06824" y="438912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232540"/>
          </a:solidFill>
          <a:ln w="9525">
            <a:solidFill>
              <a:srgbClr val="5844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35424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C084FC"/>
                </a:solidFill>
                <a:latin typeface="Segoe UI"/>
              </a:rPr>
              <a:t>Learning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5424" y="48920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EEF2F8"/>
                </a:solidFill>
                <a:latin typeface="Segoe UI"/>
              </a:rPr>
              <a:t>учится на коррекциях инженера, версии под контролем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65008" y="4389120"/>
            <a:ext cx="3566160" cy="1005840"/>
          </a:xfrm>
          <a:prstGeom prst="roundRect">
            <a:avLst>
              <a:gd name="adj" fmla="val 10909"/>
            </a:avLst>
          </a:prstGeom>
          <a:solidFill>
            <a:srgbClr val="142C3E"/>
          </a:solidFill>
          <a:ln w="9525">
            <a:solidFill>
              <a:srgbClr val="186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3608" y="4526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2D3EE"/>
                </a:solidFill>
                <a:latin typeface="Segoe UI"/>
              </a:rPr>
              <a:t>Weather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608" y="4892040"/>
            <a:ext cx="3154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EEF2F8"/>
                </a:solidFill>
                <a:latin typeface="Segoe UI"/>
              </a:rPr>
              <a:t>превращает прогноз погоды в риски по этапам графика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623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647190"/>
                </a:solidFill>
                <a:latin typeface="Segoe UI"/>
              </a:rPr>
              <a:t>ТРИ ИСХОДА ПРОВЕРКИ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925312"/>
            <a:ext cx="2377440" cy="347472"/>
          </a:xfrm>
          <a:prstGeom prst="roundRect">
            <a:avLst>
              <a:gd name="adj" fmla="val 50000"/>
            </a:avLst>
          </a:prstGeom>
          <a:solidFill>
            <a:srgbClr val="17383D"/>
          </a:solidFill>
          <a:ln w="9525">
            <a:solidFill>
              <a:srgbClr val="237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34D399"/>
                </a:solidFill>
                <a:latin typeface="Segoe UI"/>
              </a:rPr>
              <a:t>Отклонений не выявлено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035808" y="592531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37342A"/>
          </a:solidFill>
          <a:ln w="9525">
            <a:solidFill>
              <a:srgbClr val="866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FBBF24"/>
                </a:solidFill>
                <a:latin typeface="Segoe UI"/>
              </a:rPr>
              <a:t>Возможное отклонение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40096" y="5925312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273042"/>
          </a:solidFill>
          <a:ln w="9525">
            <a:solidFill>
              <a:srgbClr val="525E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93A1BD"/>
                </a:solidFill>
                <a:latin typeface="Segoe UI"/>
              </a:rPr>
              <a:t>Недостаточно данных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58978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1">
                <a:solidFill>
                  <a:srgbClr val="93A1BD"/>
                </a:solidFill>
                <a:latin typeface="Segoe UI"/>
              </a:rPr>
              <a:t>«Недостаточно данных» — осознанный статус: неуверенное не выдаём за факт.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03 · КАК СНИМОК СВЯЗЫВАЕТСЯ С ГРАФИКОМ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Схема сопоставления снимка с этапом календарного плана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1828800" cy="1143000"/>
          </a:xfrm>
          <a:prstGeom prst="roundRect">
            <a:avLst>
              <a:gd name="adj" fmla="val 96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013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Снимок + дата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Штамп на кадре или метаданные камеры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2258568"/>
            <a:ext cx="292608" cy="0"/>
          </a:xfrm>
          <a:prstGeom prst="line">
            <a:avLst/>
          </a:prstGeom>
          <a:ln w="19050">
            <a:solidFill>
              <a:srgbClr val="93A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70048" y="1691640"/>
            <a:ext cx="1828800" cy="1143000"/>
          </a:xfrm>
          <a:prstGeom prst="roundRect">
            <a:avLst>
              <a:gd name="adj" fmla="val 96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8" y="18013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Зона кадра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8" y="21488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Рабочая, опасная, место отстоя, вне контроля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98848" y="2258568"/>
            <a:ext cx="292608" cy="0"/>
          </a:xfrm>
          <a:prstGeom prst="line">
            <a:avLst/>
          </a:prstGeom>
          <a:ln w="19050">
            <a:solidFill>
              <a:srgbClr val="93A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791455" y="1691640"/>
            <a:ext cx="1828800" cy="1143000"/>
          </a:xfrm>
          <a:prstGeom prst="roundRect">
            <a:avLst>
              <a:gd name="adj" fmla="val 96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28616" y="18013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Активный этап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28616" y="21488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По дате снимка и зоне, а не по тому, что нашла модель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620255" y="2258568"/>
            <a:ext cx="292608" cy="0"/>
          </a:xfrm>
          <a:prstGeom prst="line">
            <a:avLst/>
          </a:prstGeom>
          <a:ln w="19050">
            <a:solidFill>
              <a:srgbClr val="93A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912863" y="1691640"/>
            <a:ext cx="1828800" cy="1143000"/>
          </a:xfrm>
          <a:prstGeom prst="roundRect">
            <a:avLst>
              <a:gd name="adj" fmla="val 96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50023" y="18013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Правило этапа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3" y="214884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«Этап → техника × количество», редактируется в интерфейсе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9184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0156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Vision: что нашли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49039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Класс × число: экскаватор 2, автокран 1, самосвал 2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63240" y="3858768"/>
            <a:ext cx="329184" cy="0"/>
          </a:xfrm>
          <a:prstGeom prst="line">
            <a:avLst/>
          </a:prstGeom>
          <a:ln w="19050">
            <a:solidFill>
              <a:srgbClr val="93A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392424" y="329184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9584" y="340156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BBF24"/>
                </a:solidFill>
                <a:latin typeface="Segoe UI"/>
              </a:rPr>
              <a:t>Plan vs Fact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9584" y="3749039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Сравнение по количеству: план против факта по каждому классу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07024" y="3858768"/>
            <a:ext cx="329184" cy="0"/>
          </a:xfrm>
          <a:prstGeom prst="line">
            <a:avLst/>
          </a:prstGeom>
          <a:ln w="19050">
            <a:solidFill>
              <a:srgbClr val="93A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236207" y="3291840"/>
            <a:ext cx="2514600" cy="1143000"/>
          </a:xfrm>
          <a:prstGeom prst="roundRect">
            <a:avLst>
              <a:gd name="adj" fmla="val 96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340156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34D399"/>
                </a:solidFill>
                <a:latin typeface="Segoe UI"/>
              </a:rPr>
              <a:t>Вывод со статусом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3749039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Объяснение, применённое правило и снимки-доказательства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72400" y="2834640"/>
            <a:ext cx="0" cy="457200"/>
          </a:xfrm>
          <a:prstGeom prst="line">
            <a:avLst/>
          </a:prstGeom>
          <a:ln w="19050">
            <a:solidFill>
              <a:srgbClr val="64719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48640" y="4709160"/>
            <a:ext cx="4114800" cy="1463040"/>
          </a:xfrm>
          <a:prstGeom prst="roundRect">
            <a:avLst>
              <a:gd name="adj" fmla="val 7500"/>
            </a:avLst>
          </a:prstGeom>
          <a:solidFill>
            <a:srgbClr val="16203A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82803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Кто задаёт сроки и правила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193792"/>
            <a:ext cx="3794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3A1BD"/>
                </a:solidFill>
                <a:latin typeface="Segoe UI"/>
              </a:rPr>
              <a:t>Пользователь: Excel/CSV-импорт плана или редактор в интерфейсе. Правила этапов правятся без перезапуска сервиса.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00600" y="470916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16203A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83480" y="48280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Без даты — без вывода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83480" y="5193792"/>
            <a:ext cx="3337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93A1BD"/>
                </a:solidFill>
                <a:latin typeface="Segoe UI"/>
              </a:rPr>
              <a:t>Без подтверждённой даты снимка статус всегда «Недостаточно данных»: дату не подставляем молча.</a:t>
            </a:r>
          </a:p>
        </p:txBody>
      </p:sp>
      <p:pic>
        <p:nvPicPr>
          <p:cNvPr id="38" name="Picture 37" descr="eq_pan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1691640"/>
            <a:ext cx="2481322" cy="4480560"/>
          </a:xfrm>
          <a:prstGeom prst="roundRect">
            <a:avLst>
              <a:gd name="adj" fmla="val 2000"/>
            </a:avLst>
          </a:prstGeom>
          <a:ln w="12700">
            <a:solidFill>
              <a:srgbClr val="2C3A54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9098280" y="6199632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647190"/>
                </a:solidFill>
                <a:latin typeface="Segoe UI"/>
              </a:rPr>
              <a:t>Экран этапа: самосвал 2 из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04 ·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Разбор кадра: техника, стадия, готовность</a:t>
            </a:r>
          </a:p>
        </p:txBody>
      </p:sp>
      <p:pic>
        <p:nvPicPr>
          <p:cNvPr id="5" name="Picture 4" descr="result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223760" cy="4430722"/>
          </a:xfrm>
          <a:prstGeom prst="roundRect">
            <a:avLst>
              <a:gd name="adj" fmla="val 2000"/>
            </a:avLst>
          </a:prstGeom>
          <a:ln w="12700">
            <a:solidFill>
              <a:srgbClr val="2C3A54"/>
            </a:solidFill>
          </a:ln>
        </p:spPr>
      </p:pic>
      <p:sp>
        <p:nvSpPr>
          <p:cNvPr id="6" name="Oval 5"/>
          <p:cNvSpPr/>
          <p:nvPr/>
        </p:nvSpPr>
        <p:spPr>
          <a:xfrm>
            <a:off x="8092440" y="1783080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1764792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Техника из нашего списка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1352" y="2048255"/>
            <a:ext cx="31272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ИИ ищет только классы из словаря проекта. Рамки и список с количеством и уверенностью.</a:t>
            </a:r>
          </a:p>
        </p:txBody>
      </p:sp>
      <p:sp>
        <p:nvSpPr>
          <p:cNvPr id="9" name="Oval 8"/>
          <p:cNvSpPr/>
          <p:nvPr/>
        </p:nvSpPr>
        <p:spPr>
          <a:xfrm>
            <a:off x="8092440" y="2880360"/>
            <a:ext cx="310896" cy="310896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1352" y="2862072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Стадия и готовность по фото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1352" y="3145536"/>
            <a:ext cx="31272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Свайные работы, готовность 12%, признаки, на которых основан вывод.</a:t>
            </a:r>
          </a:p>
        </p:txBody>
      </p:sp>
      <p:sp>
        <p:nvSpPr>
          <p:cNvPr id="12" name="Oval 11"/>
          <p:cNvSpPr/>
          <p:nvPr/>
        </p:nvSpPr>
        <p:spPr>
          <a:xfrm>
            <a:off x="8092440" y="3977639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352" y="3959352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Штамп даты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1352" y="4242816"/>
            <a:ext cx="31272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Дата, впечатанная в кадр, читается автоматически и подтверждается человеком.</a:t>
            </a:r>
          </a:p>
        </p:txBody>
      </p:sp>
      <p:sp>
        <p:nvSpPr>
          <p:cNvPr id="15" name="Oval 14"/>
          <p:cNvSpPr/>
          <p:nvPr/>
        </p:nvSpPr>
        <p:spPr>
          <a:xfrm>
            <a:off x="8092440" y="5074920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31352" y="5056632"/>
            <a:ext cx="31272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ИИ / Детектор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5340096"/>
            <a:ext cx="312724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Переключатель источника разметки. Рамки приблизительные, это сказано в интерфейсе.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05 · 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Что выбрали и почему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64008" cy="2011680"/>
          </a:xfrm>
          <a:prstGeom prst="roundRect">
            <a:avLst>
              <a:gd name="adj" fmla="val 42857"/>
            </a:avLst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87452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60A5FA"/>
                </a:solidFill>
                <a:latin typeface="Segoe UI"/>
              </a:rPr>
              <a:t>YOLO-World v2 (zero-shot)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6888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Нет размеченного датасета: 100 снимков без разметки. Открытый словарь классов, без обязательного дообучения, работает на CPU.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91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06824" y="1691640"/>
            <a:ext cx="64008" cy="2011680"/>
          </a:xfrm>
          <a:prstGeom prst="roundRect">
            <a:avLst>
              <a:gd name="adj" fmla="val 42857"/>
            </a:avLst>
          </a:prstGeom>
          <a:solidFill>
            <a:srgbClr val="C084FC"/>
          </a:solidFill>
          <a:ln w="9525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187452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C084FC"/>
                </a:solidFill>
                <a:latin typeface="Segoe UI"/>
              </a:rPr>
              <a:t>CLIP + логистическая регрессия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46888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Лёгкий корректор поверх детектора. Дообучается за секунды на CPU по коррекциям инженера.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9164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65008" y="1691640"/>
            <a:ext cx="64008" cy="2011680"/>
          </a:xfrm>
          <a:prstGeom prst="roundRect">
            <a:avLst>
              <a:gd name="adj" fmla="val 42857"/>
            </a:avLst>
          </a:prstGeom>
          <a:solidFill>
            <a:srgbClr val="22D3E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87452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2D3EE"/>
                </a:solidFill>
                <a:latin typeface="Segoe UI"/>
              </a:rPr>
              <a:t>Языковая модель с компьютерным зрением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46888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Стадия и готовность по фото, рамки, заключения. OpenAI-совместимый API: заменяется локальной моделью.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8620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3886200"/>
            <a:ext cx="64008" cy="2011680"/>
          </a:xfrm>
          <a:prstGeom prst="roundRect">
            <a:avLst>
              <a:gd name="adj" fmla="val 42857"/>
            </a:avLst>
          </a:prstGeom>
          <a:solidFill>
            <a:srgbClr val="34D399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06908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4D399"/>
                </a:solidFill>
                <a:latin typeface="Segoe UI"/>
              </a:rPr>
              <a:t>FastAPI + PostgreSQL + Django 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66344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Модульное ядро. Справочники (классы, правила, график, зоны) правятся без перезапуска.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06824" y="388620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06824" y="3886200"/>
            <a:ext cx="64008" cy="2011680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81144" y="406908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BBF24"/>
                </a:solidFill>
                <a:latin typeface="Segoe UI"/>
              </a:rPr>
              <a:t>React + TypeScript, Capacitor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466344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Один код для веб-интерфейса и Android-приложения. Тёмная тема, единые цвета по классам техники.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65008" y="3886200"/>
            <a:ext cx="3566160" cy="2011680"/>
          </a:xfrm>
          <a:prstGeom prst="roundRect">
            <a:avLst>
              <a:gd name="adj" fmla="val 545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65008" y="3886200"/>
            <a:ext cx="64008" cy="2011680"/>
          </a:xfrm>
          <a:prstGeom prst="roundRect">
            <a:avLst>
              <a:gd name="adj" fmla="val 42857"/>
            </a:avLst>
          </a:prstGeom>
          <a:solidFill>
            <a:srgbClr val="3B82F6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406908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B82F6"/>
                </a:solidFill>
                <a:latin typeface="Segoe UI"/>
              </a:rPr>
              <a:t>Docker Compose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663440"/>
            <a:ext cx="3154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Три сервиса (db, app, admin), запуск одной командой. GPU не обязателен, но ускоряет.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06 · ЧЕСТНОЕ КАЧЕСТВО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Что измерили и как закрываем слабые места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760720" cy="4434840"/>
          </a:xfrm>
          <a:prstGeom prst="roundRect">
            <a:avLst>
              <a:gd name="adj" fmla="val 247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2514600"/>
          <a:ext cx="5394960" cy="3520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1810512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EEF2F8"/>
                </a:solidFill>
                <a:latin typeface="Segoe UI"/>
              </a:rPr>
              <a:t>Метрики детектора на val-выборке, 20 снимков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303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47190"/>
                </a:solidFill>
                <a:latin typeface="Segoe UI"/>
              </a:rPr>
              <a:t>Уровень присутствия класса на снимке, не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783080"/>
            <a:ext cx="49377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60A5FA"/>
              </a:buClr>
              <a:buFont typeface="Arial"/>
              <a:buChar char="•"/>
            </a:pPr>
            <a:r>
              <a:rPr sz="1250" b="1" i="0">
                <a:solidFill>
                  <a:srgbClr val="EEF2F8"/>
                </a:solidFill>
                <a:latin typeface="Segoe UI"/>
              </a:rPr>
              <a:t>Экскаватор: </a:t>
            </a:r>
            <a:r>
              <a:rPr sz="1250" b="0" i="0">
                <a:solidFill>
                  <a:srgbClr val="EEF2F8"/>
                </a:solidFill>
                <a:latin typeface="Segoe UI"/>
              </a:rPr>
              <a:t>ошибается редко (precision 0,93), но четверть экскаваторов теряется под чужим классом (recall 0,78).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60A5FA"/>
              </a:buClr>
              <a:buFont typeface="Arial"/>
              <a:buChar char="•"/>
            </a:pPr>
            <a:r>
              <a:rPr sz="1250" b="1" i="0">
                <a:solidFill>
                  <a:srgbClr val="F87171"/>
                </a:solidFill>
                <a:latin typeface="Segoe UI"/>
              </a:rPr>
              <a:t>Самосвал: </a:t>
            </a:r>
            <a:r>
              <a:rPr sz="1250" b="0" i="0">
                <a:solidFill>
                  <a:srgbClr val="EEF2F8"/>
                </a:solidFill>
                <a:latin typeface="Segoe UI"/>
              </a:rPr>
              <a:t>слабое место. Ложные срабатывания на трубах, панелях, контейнерах (precision 0,05).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60A5FA"/>
              </a:buClr>
              <a:buFont typeface="Arial"/>
              <a:buChar char="•"/>
            </a:pPr>
            <a:r>
              <a:rPr sz="1250" b="1" i="0">
                <a:solidFill>
                  <a:srgbClr val="EEF2F8"/>
                </a:solidFill>
                <a:latin typeface="Segoe UI"/>
              </a:rPr>
              <a:t>Путаемые пары </a:t>
            </a:r>
            <a:r>
              <a:rPr sz="1250" b="0" i="0">
                <a:solidFill>
                  <a:srgbClr val="EEF2F8"/>
                </a:solidFill>
                <a:latin typeface="Segoe UI"/>
              </a:rPr>
              <a:t>(экскаватор, каток, кран-манипулятор) дают «Недостаточно данных», а не уверенный ответ.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60A5FA"/>
              </a:buClr>
              <a:buFont typeface="Arial"/>
              <a:buChar char="•"/>
            </a:pPr>
            <a:r>
              <a:rPr sz="1250" b="1" i="0">
                <a:solidFill>
                  <a:srgbClr val="34D399"/>
                </a:solidFill>
                <a:latin typeface="Segoe UI"/>
              </a:rPr>
              <a:t>Как закрываем: </a:t>
            </a:r>
            <a:r>
              <a:rPr sz="1250" b="0" i="0">
                <a:solidFill>
                  <a:srgbClr val="EEF2F8"/>
                </a:solidFill>
                <a:latin typeface="Segoe UI"/>
              </a:rPr>
              <a:t>проверка языковой моделью, корректор на коррекциях инженера, известные ограничения показаны в интерфейсе.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60A5FA"/>
              </a:buClr>
              <a:buFont typeface="Arial"/>
              <a:buChar char="•"/>
            </a:pPr>
            <a:r>
              <a:rPr sz="1250" b="1" i="0">
                <a:solidFill>
                  <a:srgbClr val="EEF2F8"/>
                </a:solidFill>
                <a:latin typeface="Segoe UI"/>
              </a:rPr>
              <a:t>Ограничения оценки: </a:t>
            </a:r>
            <a:r>
              <a:rPr sz="1250" b="0" i="0">
                <a:solidFill>
                  <a:srgbClr val="EEF2F8"/>
                </a:solidFill>
                <a:latin typeface="Segoe UI"/>
              </a:rPr>
              <a:t>20 снимков, один разметчик, holdout сознательно не тронут. Описано в документации.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07 · МЕТОДИКА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Бизнес-логика: то, что для заказчика важнее модели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5440680" cy="64008"/>
          </a:xfrm>
          <a:prstGeom prst="roundRect">
            <a:avLst>
              <a:gd name="adj" fmla="val 42857"/>
            </a:avLst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202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60A5FA"/>
                </a:solidFill>
                <a:latin typeface="Segoe UI"/>
              </a:rPr>
              <a:t>Правила «этап → техника × количество»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37744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60A5FA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Обязательная и допустимая техника по каждому этапу</a:t>
            </a:r>
          </a:p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60A5FA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Количество: не «есть экскаватор», а «нужно 4 самосвала, на площадке 2»</a:t>
            </a:r>
          </a:p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60A5FA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Правила правятся в интерфейсе, без правки кода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1" y="169164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99631" y="1691640"/>
            <a:ext cx="5440680" cy="64008"/>
          </a:xfrm>
          <a:prstGeom prst="roundRect">
            <a:avLst>
              <a:gd name="adj" fmla="val 42857"/>
            </a:avLst>
          </a:prstGeom>
          <a:solidFill>
            <a:srgbClr val="22D3EE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1" y="19202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22D3EE"/>
                </a:solidFill>
                <a:latin typeface="Segoe UI"/>
              </a:rPr>
              <a:t>Работает или простаивает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1" y="237744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22D3EE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Первый признак: зона кадра, где стоит машина</a:t>
            </a:r>
          </a:p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22D3EE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Второй: сравнение с предыдущими снимками той же камеры</a:t>
            </a:r>
          </a:p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22D3EE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Не уверены — честно «определить нельзя»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77639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3977639"/>
            <a:ext cx="5440680" cy="64008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42062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FBBF24"/>
                </a:solidFill>
                <a:latin typeface="Segoe UI"/>
              </a:rPr>
              <a:t>Семь типов отклонений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66344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FBBF24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Нехватка техники · лишняя техника</a:t>
            </a:r>
          </a:p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FBBF24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Простой при активном этапе · вне рабочей зоны</a:t>
            </a:r>
          </a:p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FBBF24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Опасная зона · зона без камер</a:t>
            </a:r>
          </a:p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FBBF24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Стадия по фото расходится с графиком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1" y="3977639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1" y="3977639"/>
            <a:ext cx="5440680" cy="64008"/>
          </a:xfrm>
          <a:prstGeom prst="roundRect">
            <a:avLst>
              <a:gd name="adj" fmla="val 42857"/>
            </a:avLst>
          </a:prstGeom>
          <a:solidFill>
            <a:srgbClr val="34D399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1" y="42062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 i="0">
                <a:solidFill>
                  <a:srgbClr val="34D399"/>
                </a:solidFill>
                <a:latin typeface="Segoe UI"/>
              </a:rPr>
              <a:t>Жизнь отклонения и срок сдачи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1" y="4663440"/>
            <a:ext cx="49377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34D399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Повторные кадры обновляют отклонение, а не плодят дубли</a:t>
            </a:r>
          </a:p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34D399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Закрывается только по кадру, где что-то удалось установить</a:t>
            </a:r>
          </a:p>
          <a:p>
            <a:pPr marL="201168" indent="-201168">
              <a:lnSpc>
                <a:spcPct val="105000"/>
              </a:lnSpc>
              <a:spcAft>
                <a:spcPts val="500"/>
              </a:spcAft>
              <a:buClr>
                <a:srgbClr val="34D399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Критический путь: сдвиг даты сдачи в днях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08 · ЗОНЫ КАДРА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Работа или простой, опасная зона, слепые зоны</a:t>
            </a:r>
          </a:p>
        </p:txBody>
      </p:sp>
      <p:pic>
        <p:nvPicPr>
          <p:cNvPr id="5" name="Picture 4" descr="zo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040880" cy="3960495"/>
          </a:xfrm>
          <a:prstGeom prst="roundRect">
            <a:avLst>
              <a:gd name="adj" fmla="val 2000"/>
            </a:avLst>
          </a:prstGeom>
          <a:ln w="12700">
            <a:solidFill>
              <a:srgbClr val="2C3A54"/>
            </a:solidFill>
          </a:ln>
        </p:spPr>
      </p:pic>
      <p:sp>
        <p:nvSpPr>
          <p:cNvPr id="6" name="Oval 5"/>
          <p:cNvSpPr/>
          <p:nvPr/>
        </p:nvSpPr>
        <p:spPr>
          <a:xfrm>
            <a:off x="7955279" y="1783080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94192" y="1764792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Инженер размечает зоны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2048255"/>
            <a:ext cx="32186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Рабочие участки, места отстоя техники, въезд, опасные зоны. Прямо на кадре камеры.</a:t>
            </a:r>
          </a:p>
        </p:txBody>
      </p:sp>
      <p:sp>
        <p:nvSpPr>
          <p:cNvPr id="9" name="Oval 8"/>
          <p:cNvSpPr/>
          <p:nvPr/>
        </p:nvSpPr>
        <p:spPr>
          <a:xfrm>
            <a:off x="7955279" y="2926080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907792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Место важнее вида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3191256"/>
            <a:ext cx="32186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Экскаватор в котловане и тот же экскаватор на стоянке означают разное.</a:t>
            </a:r>
          </a:p>
        </p:txBody>
      </p:sp>
      <p:sp>
        <p:nvSpPr>
          <p:cNvPr id="12" name="Oval 11"/>
          <p:cNvSpPr/>
          <p:nvPr/>
        </p:nvSpPr>
        <p:spPr>
          <a:xfrm>
            <a:off x="7955279" y="4069080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2" y="4050792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Слепые зоны видны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4334256"/>
            <a:ext cx="32186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Часть площадки вне камер: предупреждение «вне контроля ИИ, проверить вручную». Так просил заказчик.</a:t>
            </a:r>
          </a:p>
        </p:txBody>
      </p:sp>
      <p:sp>
        <p:nvSpPr>
          <p:cNvPr id="15" name="Oval 14"/>
          <p:cNvSpPr/>
          <p:nvPr/>
        </p:nvSpPr>
        <p:spPr>
          <a:xfrm>
            <a:off x="7955279" y="5349240"/>
            <a:ext cx="310896" cy="3108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5330952"/>
            <a:ext cx="32186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Простой доказывается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5614416"/>
            <a:ext cx="321868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Та же машина на том же месте в нескольких кадрах подряд.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09 · РЕЗУЛЬТАТ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Отклонение — с доказательством и объяснением</a:t>
            </a:r>
          </a:p>
        </p:txBody>
      </p:sp>
      <p:pic>
        <p:nvPicPr>
          <p:cNvPr id="5" name="Picture 4" descr="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498079" cy="4217670"/>
          </a:xfrm>
          <a:prstGeom prst="roundRect">
            <a:avLst>
              <a:gd name="adj" fmla="val 2000"/>
            </a:avLst>
          </a:prstGeom>
          <a:ln w="12700">
            <a:solidFill>
              <a:srgbClr val="2C3A54"/>
            </a:solidFill>
          </a:ln>
        </p:spPr>
      </p:pic>
      <p:sp>
        <p:nvSpPr>
          <p:cNvPr id="6" name="Oval 5"/>
          <p:cNvSpPr/>
          <p:nvPr/>
        </p:nvSpPr>
        <p:spPr>
          <a:xfrm>
            <a:off x="8366760" y="1783080"/>
            <a:ext cx="310896" cy="310896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05672" y="1764792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Рамки на снимке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5672" y="2048255"/>
            <a:ext cx="28529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Найденная техника с классом и уверенностью прямо на кадре.</a:t>
            </a:r>
          </a:p>
        </p:txBody>
      </p:sp>
      <p:sp>
        <p:nvSpPr>
          <p:cNvPr id="9" name="Oval 8"/>
          <p:cNvSpPr/>
          <p:nvPr/>
        </p:nvSpPr>
        <p:spPr>
          <a:xfrm>
            <a:off x="8366760" y="2880360"/>
            <a:ext cx="310896" cy="310896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5672" y="2862072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Причина словами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05672" y="3145536"/>
            <a:ext cx="28529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Какого этапа, чего не хватает, что проверить. Без «чёрного ящика».</a:t>
            </a:r>
          </a:p>
        </p:txBody>
      </p:sp>
      <p:sp>
        <p:nvSpPr>
          <p:cNvPr id="12" name="Oval 11"/>
          <p:cNvSpPr/>
          <p:nvPr/>
        </p:nvSpPr>
        <p:spPr>
          <a:xfrm>
            <a:off x="8366760" y="3977639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5672" y="3959352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Подтверждение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05672" y="4242816"/>
            <a:ext cx="28529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Отклонение подтверждено несколькими снимками подряд.</a:t>
            </a:r>
          </a:p>
        </p:txBody>
      </p:sp>
      <p:sp>
        <p:nvSpPr>
          <p:cNvPr id="15" name="Oval 14"/>
          <p:cNvSpPr/>
          <p:nvPr/>
        </p:nvSpPr>
        <p:spPr>
          <a:xfrm>
            <a:off x="8366760" y="5074920"/>
            <a:ext cx="310896" cy="3108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5056632"/>
            <a:ext cx="2852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Список отклонений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05672" y="5340096"/>
            <a:ext cx="285292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Критичность, этап, зона, миниатюра кадра-доказательства.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10 · УЧАСТОК НАДЗОРА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Для Департамента: не тысячи кадров, а карточки для решения</a:t>
            </a:r>
          </a:p>
        </p:txBody>
      </p:sp>
      <p:pic>
        <p:nvPicPr>
          <p:cNvPr id="5" name="Picture 4" descr="supervi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5486400" cy="3086100"/>
          </a:xfrm>
          <a:prstGeom prst="roundRect">
            <a:avLst>
              <a:gd name="adj" fmla="val 2000"/>
            </a:avLst>
          </a:prstGeom>
          <a:ln w="12700">
            <a:solidFill>
              <a:srgbClr val="2C3A54"/>
            </a:solidFill>
          </a:ln>
        </p:spPr>
      </p:pic>
      <p:pic>
        <p:nvPicPr>
          <p:cNvPr id="6" name="Picture 5" descr="queu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91640"/>
            <a:ext cx="5486400" cy="3086100"/>
          </a:xfrm>
          <a:prstGeom prst="roundRect">
            <a:avLst>
              <a:gd name="adj" fmla="val 2000"/>
            </a:avLst>
          </a:prstGeom>
          <a:ln w="12700">
            <a:solidFill>
              <a:srgbClr val="2C3A5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48640" y="4800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647190"/>
                </a:solidFill>
                <a:latin typeface="Segoe UI"/>
              </a:rPr>
              <a:t>Все объекты инспектора на одном экране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48006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 i="0">
                <a:solidFill>
                  <a:srgbClr val="647190"/>
                </a:solidFill>
                <a:latin typeface="Segoe UI"/>
              </a:rPr>
              <a:t>Очередь разбора: решение занимает секунды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21208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3218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Сначала то, что двигает срок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64184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Карточки отсортированы: критический путь, критичность, повторяемость.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521208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53218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BBF24"/>
                </a:solidFill>
                <a:latin typeface="Segoe UI"/>
              </a:rPr>
              <a:t>Три решения на карточку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564184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Подтвердить нарушение · Нужен выезд · Ложное срабатывание.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8" y="5212080"/>
            <a:ext cx="3566160" cy="1097280"/>
          </a:xfrm>
          <a:prstGeom prst="roundRect">
            <a:avLst>
              <a:gd name="adj" fmla="val 100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53218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34D399"/>
                </a:solidFill>
                <a:latin typeface="Segoe UI"/>
              </a:rPr>
              <a:t>Слепые объекты видны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5641848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Отсутствие отклонений без проверок — не благополучие. Такие объекты выделены.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11 · СРОК СДАЧИ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От нехватки техники к дате сдачи объекта</a:t>
            </a:r>
          </a:p>
        </p:txBody>
      </p:sp>
      <p:pic>
        <p:nvPicPr>
          <p:cNvPr id="5" name="Picture 4" descr="schedule_equip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040880" cy="4400550"/>
          </a:xfrm>
          <a:prstGeom prst="roundRect">
            <a:avLst>
              <a:gd name="adj" fmla="val 2000"/>
            </a:avLst>
          </a:prstGeom>
          <a:ln w="12700">
            <a:solidFill>
              <a:srgbClr val="2C3A54"/>
            </a:solidFill>
          </a:ln>
        </p:spPr>
      </p:pic>
      <p:sp>
        <p:nvSpPr>
          <p:cNvPr id="6" name="Oval 5"/>
          <p:cNvSpPr/>
          <p:nvPr/>
        </p:nvSpPr>
        <p:spPr>
          <a:xfrm>
            <a:off x="7909560" y="1783080"/>
            <a:ext cx="310896" cy="310896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2" y="1764792"/>
            <a:ext cx="3310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Нехватка техники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8472" y="2048255"/>
            <a:ext cx="33101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Самосвал 2 из 4: «Не хватает техники». Пример прямо из ТЗ.</a:t>
            </a:r>
          </a:p>
        </p:txBody>
      </p:sp>
      <p:sp>
        <p:nvSpPr>
          <p:cNvPr id="9" name="Oval 8"/>
          <p:cNvSpPr/>
          <p:nvPr/>
        </p:nvSpPr>
        <p:spPr>
          <a:xfrm>
            <a:off x="7909560" y="2926080"/>
            <a:ext cx="310896" cy="3108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8472" y="2907792"/>
            <a:ext cx="3310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Календарный план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3191256"/>
            <a:ext cx="33101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Гант: план и факт, критический путь, редактирование плана и правил.</a:t>
            </a:r>
          </a:p>
        </p:txBody>
      </p:sp>
      <p:sp>
        <p:nvSpPr>
          <p:cNvPr id="12" name="Oval 11"/>
          <p:cNvSpPr/>
          <p:nvPr/>
        </p:nvSpPr>
        <p:spPr>
          <a:xfrm>
            <a:off x="7909560" y="4069080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4050792"/>
            <a:ext cx="3310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Срок в днях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4334256"/>
            <a:ext cx="33101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Критический путь переводит отставание в сдвиг даты сдачи: 31.10.2027 → 01.11.2027.</a:t>
            </a:r>
          </a:p>
        </p:txBody>
      </p:sp>
      <p:sp>
        <p:nvSpPr>
          <p:cNvPr id="15" name="Oval 14"/>
          <p:cNvSpPr/>
          <p:nvPr/>
        </p:nvSpPr>
        <p:spPr>
          <a:xfrm>
            <a:off x="7909560" y="5212080"/>
            <a:ext cx="310896" cy="3108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5193792"/>
            <a:ext cx="3310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Прогноз задержки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5477256"/>
            <a:ext cx="33101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Заказчик назвал его важным: показываем дату и причины.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63056"/>
            <a:ext cx="7040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1">
                <a:solidFill>
                  <a:srgbClr val="647190"/>
                </a:solidFill>
                <a:latin typeface="Segoe UI"/>
              </a:rPr>
              <a:t>Полоса «Прогнозный перерасход» и часть значений в экране — демонстрационный сценарий.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12 · WEATHER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Погодные риски по этапам графика</a:t>
            </a:r>
          </a:p>
        </p:txBody>
      </p:sp>
      <p:pic>
        <p:nvPicPr>
          <p:cNvPr id="5" name="Picture 4" descr="foreca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7040880" cy="3960495"/>
          </a:xfrm>
          <a:prstGeom prst="roundRect">
            <a:avLst>
              <a:gd name="adj" fmla="val 2000"/>
            </a:avLst>
          </a:prstGeom>
          <a:ln w="12700">
            <a:solidFill>
              <a:srgbClr val="2C3A54"/>
            </a:solidFill>
          </a:ln>
        </p:spPr>
      </p:pic>
      <p:sp>
        <p:nvSpPr>
          <p:cNvPr id="6" name="Oval 5"/>
          <p:cNvSpPr/>
          <p:nvPr/>
        </p:nvSpPr>
        <p:spPr>
          <a:xfrm>
            <a:off x="7909560" y="1783080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48472" y="1764792"/>
            <a:ext cx="3310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Прогноз на 72 часа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48472" y="2048255"/>
            <a:ext cx="33101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Осадки, ветер, порывы, температура. В контуре источник заменяется своим метеосервисом или кэшем.</a:t>
            </a:r>
          </a:p>
        </p:txBody>
      </p:sp>
      <p:sp>
        <p:nvSpPr>
          <p:cNvPr id="9" name="Oval 8"/>
          <p:cNvSpPr/>
          <p:nvPr/>
        </p:nvSpPr>
        <p:spPr>
          <a:xfrm>
            <a:off x="7909560" y="3063240"/>
            <a:ext cx="310896" cy="310896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48472" y="3044952"/>
            <a:ext cx="3310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Пересечение с графиком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48472" y="3328416"/>
            <a:ext cx="33101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Риск получают только те этапы, которые идут в это окно: бетонирование, кран, кровля.</a:t>
            </a:r>
          </a:p>
        </p:txBody>
      </p:sp>
      <p:sp>
        <p:nvSpPr>
          <p:cNvPr id="12" name="Oval 11"/>
          <p:cNvSpPr/>
          <p:nvPr/>
        </p:nvSpPr>
        <p:spPr>
          <a:xfrm>
            <a:off x="7909560" y="4343400"/>
            <a:ext cx="310896" cy="310896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4325112"/>
            <a:ext cx="3310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Настраиваемые правила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4608576"/>
            <a:ext cx="33101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Пороги задаются по этапам. Не вероятность срыва, а повод для инженерной проверки.</a:t>
            </a:r>
          </a:p>
        </p:txBody>
      </p:sp>
      <p:sp>
        <p:nvSpPr>
          <p:cNvPr id="15" name="Oval 14"/>
          <p:cNvSpPr/>
          <p:nvPr/>
        </p:nvSpPr>
        <p:spPr>
          <a:xfrm>
            <a:off x="7909560" y="5486400"/>
            <a:ext cx="310896" cy="310896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5468112"/>
            <a:ext cx="33101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Честная недоступность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5751576"/>
            <a:ext cx="3310127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Нет данных погоды: «недоступно», а не «рисков нет».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13 ·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Дообучение на коррекциях инженера под контролем человека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847088"/>
            <a:ext cx="347472" cy="347472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B0F1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C084FC"/>
                </a:solidFill>
                <a:latin typeface="Segoe UI"/>
              </a:rPr>
              <a:t>Инженер правит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Подтверждает или исправляет неуверенные детекции на экране камеры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06040" y="2651760"/>
            <a:ext cx="201168" cy="0"/>
          </a:xfrm>
          <a:prstGeom prst="line">
            <a:avLst/>
          </a:prstGeom>
          <a:ln w="19050">
            <a:solidFill>
              <a:srgbClr val="93A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07208" y="169164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90088" y="1847088"/>
            <a:ext cx="347472" cy="347472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B0F1A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8" y="22860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C084FC"/>
                </a:solidFill>
                <a:latin typeface="Segoe UI"/>
              </a:rPr>
              <a:t>Обрезок и класс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274320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Фрагмент кадра и верный класс сохраняются в базе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64608" y="2651760"/>
            <a:ext cx="201168" cy="0"/>
          </a:xfrm>
          <a:prstGeom prst="line">
            <a:avLst/>
          </a:prstGeom>
          <a:ln w="19050">
            <a:solidFill>
              <a:srgbClr val="93A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65776" y="169164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48656" y="1847088"/>
            <a:ext cx="347472" cy="347472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B0F1A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22860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C084FC"/>
                </a:solidFill>
                <a:latin typeface="Segoe UI"/>
              </a:rPr>
              <a:t>Обучение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8656" y="274320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CLIP-эмбеддинги и логистическая регрессия. Секунды на CPU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23176" y="2651760"/>
            <a:ext cx="201168" cy="0"/>
          </a:xfrm>
          <a:prstGeom prst="line">
            <a:avLst/>
          </a:prstGeom>
          <a:ln w="19050">
            <a:solidFill>
              <a:srgbClr val="93A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24344" y="169164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07223" y="1847088"/>
            <a:ext cx="347472" cy="347472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B0F1A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07223" y="22860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C084FC"/>
                </a:solidFill>
                <a:latin typeface="Segoe UI"/>
              </a:rPr>
              <a:t>Кандидат-версия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07223" y="274320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Метрики на отложенной части самих коррекций, без выдуманных цифр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81744" y="2651760"/>
            <a:ext cx="201168" cy="0"/>
          </a:xfrm>
          <a:prstGeom prst="line">
            <a:avLst/>
          </a:prstGeom>
          <a:ln w="19050">
            <a:solidFill>
              <a:srgbClr val="93A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582912" y="1691640"/>
            <a:ext cx="2057400" cy="1920240"/>
          </a:xfrm>
          <a:prstGeom prst="roundRect">
            <a:avLst>
              <a:gd name="adj" fmla="val 571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65792" y="1847088"/>
            <a:ext cx="347472" cy="347472"/>
          </a:xfrm>
          <a:prstGeom prst="ellipse">
            <a:avLst/>
          </a:prstGeom>
          <a:solidFill>
            <a:srgbClr val="C08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 i="0">
                <a:solidFill>
                  <a:srgbClr val="0B0F1A"/>
                </a:solidFill>
                <a:latin typeface="Segoe U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228600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C084FC"/>
                </a:solidFill>
                <a:latin typeface="Segoe UI"/>
              </a:rPr>
              <a:t>Публикация вручную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2743200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Версия становится рабочей только по решению человека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840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АВТОРАЗМЕТКА: ПУТЬ К ДООБУЧЕНИЮ САМОГО ДЕТЕКТОРА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206240"/>
            <a:ext cx="2606040" cy="1051560"/>
          </a:xfrm>
          <a:prstGeom prst="roundRect">
            <a:avLst>
              <a:gd name="adj" fmla="val 10434"/>
            </a:avLst>
          </a:prstGeom>
          <a:solidFill>
            <a:srgbClr val="16203A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3159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Детектор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645152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Низкий порог: предлагает рамки, важна полнота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154680" y="4736592"/>
            <a:ext cx="237744" cy="0"/>
          </a:xfrm>
          <a:prstGeom prst="line">
            <a:avLst/>
          </a:prstGeom>
          <a:ln w="19050">
            <a:solidFill>
              <a:srgbClr val="93A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392424" y="4206240"/>
            <a:ext cx="2606040" cy="1051560"/>
          </a:xfrm>
          <a:prstGeom prst="roundRect">
            <a:avLst>
              <a:gd name="adj" fmla="val 10434"/>
            </a:avLst>
          </a:prstGeom>
          <a:solidFill>
            <a:srgbClr val="16203A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75304" y="43159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Языковая модель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75304" y="4645152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Классифицирует вырезанные фрагменты, до девяти за запрос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998464" y="4736592"/>
            <a:ext cx="237744" cy="0"/>
          </a:xfrm>
          <a:prstGeom prst="line">
            <a:avLst/>
          </a:prstGeom>
          <a:ln w="19050">
            <a:solidFill>
              <a:srgbClr val="93A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236207" y="4206240"/>
            <a:ext cx="2606040" cy="1051560"/>
          </a:xfrm>
          <a:prstGeom prst="roundRect">
            <a:avLst>
              <a:gd name="adj" fmla="val 10434"/>
            </a:avLst>
          </a:prstGeom>
          <a:solidFill>
            <a:srgbClr val="16203A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43159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Черновая разметка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4645152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Рамки и классы из нашей таксономии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842248" y="4736592"/>
            <a:ext cx="237744" cy="0"/>
          </a:xfrm>
          <a:prstGeom prst="line">
            <a:avLst/>
          </a:prstGeom>
          <a:ln w="19050">
            <a:solidFill>
              <a:srgbClr val="93A1B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079992" y="4206240"/>
            <a:ext cx="2606040" cy="1051560"/>
          </a:xfrm>
          <a:prstGeom prst="roundRect">
            <a:avLst>
              <a:gd name="adj" fmla="val 10434"/>
            </a:avLst>
          </a:prstGeom>
          <a:solidFill>
            <a:srgbClr val="16203A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62872" y="43159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Инженер проверяет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4645152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Проверка глазами вместо рисования с нуля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623560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17383D"/>
          </a:solidFill>
          <a:ln w="9525">
            <a:solidFill>
              <a:srgbClr val="237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34D399"/>
                </a:solidFill>
                <a:latin typeface="Segoe UI"/>
              </a:rPr>
              <a:t>Данные не покидают контур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703320" y="5623560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17383D"/>
          </a:solidFill>
          <a:ln w="9525">
            <a:solidFill>
              <a:srgbClr val="237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34D399"/>
                </a:solidFill>
                <a:latin typeface="Segoe UI"/>
              </a:rPr>
              <a:t>Версии и откат под контролем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0" y="5623560"/>
            <a:ext cx="3383280" cy="365760"/>
          </a:xfrm>
          <a:prstGeom prst="roundRect">
            <a:avLst>
              <a:gd name="adj" fmla="val 50000"/>
            </a:avLst>
          </a:prstGeom>
          <a:solidFill>
            <a:srgbClr val="17383D"/>
          </a:solidFill>
          <a:ln w="9525">
            <a:solidFill>
              <a:srgbClr val="237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34D399"/>
                </a:solidFill>
                <a:latin typeface="Segoe UI"/>
              </a:rPr>
              <a:t>Метрики без выдуманных цифр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14 · ЗАКРЫТЫЙ КОНТУР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Ядро работает автономно, внешние сервисы подключаемые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7498079" cy="3154680"/>
          </a:xfrm>
          <a:prstGeom prst="roundRect">
            <a:avLst>
              <a:gd name="adj" fmla="val 3478"/>
            </a:avLst>
          </a:prstGeom>
          <a:solidFill>
            <a:srgbClr val="141F35"/>
          </a:solidFill>
          <a:ln w="15875">
            <a:solidFill>
              <a:srgbClr val="60A5F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0136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ЗАКРЫТЫЙ КОНТУР ЗАКАЗЧИКА (ON-PREM, DOCKER COMPOSE)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60A5FA"/>
                </a:solidFill>
                <a:latin typeface="Segoe UI"/>
              </a:rPr>
              <a:t>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93A1BD"/>
                </a:solidFill>
                <a:latin typeface="Segoe UI"/>
              </a:rPr>
              <a:t>FastAPI, YOLO-World, CLIP, правила, отклонения, критический путь, прогноз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72968" y="219456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22860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34D399"/>
                </a:solidFill>
                <a:latin typeface="Segoe UI"/>
              </a:rPr>
              <a:t>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0128" y="260604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93A1BD"/>
                </a:solidFill>
                <a:latin typeface="Segoe UI"/>
              </a:rPr>
              <a:t>PostgreSQL: справочники, снимки, отклонения, версии моделей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68696" y="2194560"/>
            <a:ext cx="2194560" cy="13716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05856" y="22860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BBF24"/>
                </a:solidFill>
                <a:latin typeface="Segoe UI"/>
              </a:rPr>
              <a:t>admin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05856" y="2606040"/>
            <a:ext cx="1920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93A1BD"/>
                </a:solidFill>
                <a:latin typeface="Segoe UI"/>
              </a:rPr>
              <a:t>Django admin: справочники и история анализа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49039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9525">
            <a:solidFill>
              <a:srgbClr val="2C3A5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2D3EE"/>
                </a:solidFill>
                <a:latin typeface="Segoe UI"/>
              </a:rPr>
              <a:t>Локальная VLM (опционально)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93A1BD"/>
                </a:solidFill>
                <a:latin typeface="Segoe UI"/>
              </a:rPr>
              <a:t>Стадия по фото, рамки, заключения. Тот же OpenAI-совместимый API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749039"/>
            <a:ext cx="3383280" cy="914400"/>
          </a:xfrm>
          <a:prstGeom prst="roundRect">
            <a:avLst>
              <a:gd name="adj" fmla="val 12000"/>
            </a:avLst>
          </a:prstGeom>
          <a:solidFill>
            <a:srgbClr val="16203A"/>
          </a:solidFill>
          <a:ln w="9525">
            <a:solidFill>
              <a:srgbClr val="2C3A5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3822191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22D3EE"/>
                </a:solidFill>
                <a:latin typeface="Segoe UI"/>
              </a:rPr>
              <a:t>Свой метеоисточник или кэш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11480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 i="0">
                <a:solidFill>
                  <a:srgbClr val="93A1BD"/>
                </a:solidFill>
                <a:latin typeface="Segoe UI"/>
              </a:rPr>
              <a:t>Прогноз погоды внутри контура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691640"/>
            <a:ext cx="3319272" cy="3154680"/>
          </a:xfrm>
          <a:prstGeom prst="roundRect">
            <a:avLst>
              <a:gd name="adj" fmla="val 3478"/>
            </a:avLst>
          </a:prstGeom>
          <a:solidFill>
            <a:srgbClr val="121A2B"/>
          </a:solidFill>
          <a:ln w="9525">
            <a:solidFill>
              <a:srgbClr val="64719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80136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93A1BD"/>
                </a:solidFill>
                <a:latin typeface="Segoe UI"/>
              </a:rPr>
              <a:t>ОБЛАЧНЫЙ РЕЖИМ ДЕМО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240280"/>
            <a:ext cx="29718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647190"/>
              </a:buClr>
              <a:buFont typeface="Arial"/>
              <a:buChar char="•"/>
            </a:pPr>
            <a:r>
              <a:rPr sz="1100" b="0" i="0">
                <a:solidFill>
                  <a:srgbClr val="EEF2F8"/>
                </a:solidFill>
                <a:latin typeface="Segoe UI"/>
              </a:rPr>
              <a:t>Языковая модель через облачный API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647190"/>
              </a:buClr>
              <a:buFont typeface="Arial"/>
              <a:buChar char="•"/>
            </a:pPr>
            <a:r>
              <a:rPr sz="1100" b="0" i="0">
                <a:solidFill>
                  <a:srgbClr val="EEF2F8"/>
                </a:solidFill>
                <a:latin typeface="Segoe UI"/>
              </a:rPr>
              <a:t>Погода: Open-Meteo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647190"/>
              </a:buClr>
              <a:buFont typeface="Arial"/>
              <a:buChar char="•"/>
            </a:pPr>
            <a:r>
              <a:rPr sz="1100" b="0" i="0">
                <a:solidFill>
                  <a:srgbClr val="EEF2F8"/>
                </a:solidFill>
                <a:latin typeface="Segoe UI"/>
              </a:rPr>
              <a:t>Подложка карты: OpenStreetMap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647190"/>
              </a:buClr>
              <a:buFont typeface="Arial"/>
              <a:buChar char="•"/>
            </a:pPr>
            <a:r>
              <a:rPr sz="1100" b="0" i="0">
                <a:solidFill>
                  <a:srgbClr val="EEF2F8"/>
                </a:solidFill>
                <a:latin typeface="Segoe UI"/>
              </a:rPr>
              <a:t>Ядро при недоступности не падает: «нет данных» вместо вымысла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029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1389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34D399"/>
                </a:solidFill>
                <a:latin typeface="Segoe UI"/>
              </a:rPr>
              <a:t>Работает без интернета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458968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Детекция, правила, отклонения, критический путь, прогноз по темпу, дообучение, база данных.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06824" y="5029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9704" y="51389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22D3EE"/>
                </a:solidFill>
                <a:latin typeface="Segoe UI"/>
              </a:rPr>
              <a:t>Подключаемое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9704" y="5458968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Языковая модель и метеоисточник. Нет связи: честный статус, ядро продолжает работу.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65008" y="502920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513892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FBBF24"/>
                </a:solidFill>
                <a:latin typeface="Segoe UI"/>
              </a:rPr>
              <a:t>Безопасность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5458968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Сессии Django, две роли, изоляция проектов, проверка Origin и заголовка запросов.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15 · ПОЛЬЗОВАТЕЛИ И МОБИЛЬНОЕ ПРИЛОЖЕНИЕ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Один сервис — три роли и два клиента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760720" cy="1325880"/>
          </a:xfrm>
          <a:prstGeom prst="roundRect">
            <a:avLst>
              <a:gd name="adj" fmla="val 8275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64008" cy="1325880"/>
          </a:xfrm>
          <a:prstGeom prst="roundRect">
            <a:avLst>
              <a:gd name="adj" fmla="val 42857"/>
            </a:avLst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0A5FA"/>
                </a:solidFill>
                <a:latin typeface="Segoe UI"/>
              </a:rPr>
              <a:t>Департамент градполитики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«Участок надзора»: объекты, очередь карточек, что двигает срок сдачи.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80"/>
            <a:ext cx="5760720" cy="1325880"/>
          </a:xfrm>
          <a:prstGeom prst="roundRect">
            <a:avLst>
              <a:gd name="adj" fmla="val 8275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3154680"/>
            <a:ext cx="64008" cy="1325880"/>
          </a:xfrm>
          <a:prstGeom prst="roundRect">
            <a:avLst>
              <a:gd name="adj" fmla="val 42857"/>
            </a:avLst>
          </a:prstGeom>
          <a:solidFill>
            <a:srgbClr val="34D399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9184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4D399"/>
                </a:solidFill>
                <a:latin typeface="Segoe UI"/>
              </a:rPr>
              <a:t>Застройщик, руководитель стройки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Проект: календарный план, прогноз, отклонения, PDF-отчёт о ходе работ.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617720"/>
            <a:ext cx="5760720" cy="1325880"/>
          </a:xfrm>
          <a:prstGeom prst="roundRect">
            <a:avLst>
              <a:gd name="adj" fmla="val 8275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4617720"/>
            <a:ext cx="64008" cy="1325880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754880"/>
            <a:ext cx="5303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BBF24"/>
                </a:solidFill>
                <a:latin typeface="Segoe UI"/>
              </a:rPr>
              <a:t>Инженер на площадке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66360"/>
            <a:ext cx="530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93A1BD"/>
                </a:solidFill>
                <a:latin typeface="Segoe UI"/>
              </a:rPr>
              <a:t>Телефон: снимок с камеры, разбор, коррекции ИИ, уведомления.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1691640"/>
            <a:ext cx="2377440" cy="4572000"/>
          </a:xfrm>
          <a:prstGeom prst="roundRect">
            <a:avLst>
              <a:gd name="adj" fmla="val 11538"/>
            </a:avLst>
          </a:prstGeom>
          <a:solidFill>
            <a:srgbClr val="121A2B"/>
          </a:solidFill>
          <a:ln w="19050">
            <a:solidFill>
              <a:srgbClr val="6471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74519"/>
            <a:ext cx="548640" cy="548640"/>
          </a:xfrm>
          <a:prstGeom prst="roundRect">
            <a:avLst>
              <a:gd name="adj" fmla="val 2000"/>
            </a:avLst>
          </a:prstGeom>
        </p:spPr>
      </p:pic>
      <p:sp>
        <p:nvSpPr>
          <p:cNvPr id="19" name="Rounded Rectangle 18"/>
          <p:cNvSpPr/>
          <p:nvPr/>
        </p:nvSpPr>
        <p:spPr>
          <a:xfrm>
            <a:off x="6995160" y="269748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16203A"/>
          </a:solidFill>
          <a:ln w="952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269748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EEF2F8"/>
                </a:solidFill>
                <a:latin typeface="Segoe UI"/>
              </a:rPr>
              <a:t>Главная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333756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16203A"/>
          </a:solidFill>
          <a:ln w="952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95160" y="33375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EEF2F8"/>
                </a:solidFill>
                <a:latin typeface="Segoe UI"/>
              </a:rPr>
              <a:t>Карта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60" y="3977639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3B82F6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60" y="3977639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EEF2F8"/>
                </a:solidFill>
                <a:latin typeface="Segoe UI"/>
              </a:rPr>
              <a:t>Анализ (камера)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95160" y="461772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16203A"/>
          </a:solidFill>
          <a:ln w="952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46177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EEF2F8"/>
                </a:solidFill>
                <a:latin typeface="Segoe UI"/>
              </a:rPr>
              <a:t>Уведомления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95160" y="5257800"/>
            <a:ext cx="1920240" cy="502920"/>
          </a:xfrm>
          <a:prstGeom prst="roundRect">
            <a:avLst>
              <a:gd name="adj" fmla="val 21818"/>
            </a:avLst>
          </a:prstGeom>
          <a:solidFill>
            <a:srgbClr val="16203A"/>
          </a:solidFill>
          <a:ln w="9525">
            <a:solidFill>
              <a:srgbClr val="16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95160" y="52578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 i="0">
                <a:solidFill>
                  <a:srgbClr val="EEF2F8"/>
                </a:solidFill>
                <a:latin typeface="Segoe UI"/>
              </a:rPr>
              <a:t>Профиль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1737360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ANDROID (CAPACITOR)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103120"/>
            <a:ext cx="22402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800"/>
              </a:spcAft>
              <a:buClr>
                <a:srgbClr val="60A5FA"/>
              </a:buClr>
              <a:buFont typeface="Arial"/>
              <a:buChar char="•"/>
            </a:pPr>
            <a:r>
              <a:rPr sz="1100" b="0" i="0">
                <a:solidFill>
                  <a:srgbClr val="EEF2F8"/>
                </a:solidFill>
                <a:latin typeface="Segoe UI"/>
              </a:rPr>
              <a:t>Тот же API и та же авторизация, что в вебе</a:t>
            </a:r>
          </a:p>
          <a:p>
            <a:pPr marL="201168" indent="-201168">
              <a:lnSpc>
                <a:spcPct val="105000"/>
              </a:lnSpc>
              <a:spcAft>
                <a:spcPts val="800"/>
              </a:spcAft>
              <a:buClr>
                <a:srgbClr val="60A5FA"/>
              </a:buClr>
              <a:buFont typeface="Arial"/>
              <a:buChar char="•"/>
            </a:pPr>
            <a:r>
              <a:rPr sz="1100" b="0" i="0">
                <a:solidFill>
                  <a:srgbClr val="EEF2F8"/>
                </a:solidFill>
                <a:latin typeface="Segoe UI"/>
              </a:rPr>
              <a:t>Снимок с камеры телефона сразу уходит в разбор</a:t>
            </a:r>
          </a:p>
          <a:p>
            <a:pPr marL="201168" indent="-201168">
              <a:lnSpc>
                <a:spcPct val="105000"/>
              </a:lnSpc>
              <a:spcAft>
                <a:spcPts val="800"/>
              </a:spcAft>
              <a:buClr>
                <a:srgbClr val="60A5FA"/>
              </a:buClr>
              <a:buFont typeface="Arial"/>
              <a:buChar char="•"/>
            </a:pPr>
            <a:r>
              <a:rPr sz="1100" b="0" i="0">
                <a:solidFill>
                  <a:srgbClr val="EEF2F8"/>
                </a:solidFill>
                <a:latin typeface="Segoe UI"/>
              </a:rPr>
              <a:t>Список уведомлений об отклонениях</a:t>
            </a:r>
          </a:p>
          <a:p>
            <a:pPr marL="201168" indent="-201168">
              <a:lnSpc>
                <a:spcPct val="105000"/>
              </a:lnSpc>
              <a:spcAft>
                <a:spcPts val="800"/>
              </a:spcAft>
              <a:buClr>
                <a:srgbClr val="60A5FA"/>
              </a:buClr>
              <a:buFont typeface="Arial"/>
              <a:buChar char="•"/>
            </a:pPr>
            <a:r>
              <a:rPr sz="1100" b="0" i="0">
                <a:solidFill>
                  <a:srgbClr val="EEF2F8"/>
                </a:solidFill>
                <a:latin typeface="Segoe UI"/>
              </a:rPr>
              <a:t>Подписанный APK для RuStore</a:t>
            </a:r>
          </a:p>
          <a:p>
            <a:pPr marL="201168" indent="-201168">
              <a:lnSpc>
                <a:spcPct val="105000"/>
              </a:lnSpc>
              <a:spcAft>
                <a:spcPts val="800"/>
              </a:spcAft>
              <a:buClr>
                <a:srgbClr val="60A5FA"/>
              </a:buClr>
              <a:buFont typeface="Arial"/>
              <a:buChar char="•"/>
            </a:pPr>
            <a:r>
              <a:rPr sz="1100" b="0" i="0">
                <a:solidFill>
                  <a:srgbClr val="EEF2F8"/>
                </a:solidFill>
                <a:latin typeface="Segoe UI"/>
              </a:rPr>
              <a:t>Push-уведомления — в планах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16 · МАСШТАБИРОВАНИЕ И РАЗВИТИЕ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От прототипа к модулю системы заказчика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566160" cy="3840480"/>
          </a:xfrm>
          <a:prstGeom prst="roundRect">
            <a:avLst>
              <a:gd name="adj" fmla="val 3076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66160" cy="64008"/>
          </a:xfrm>
          <a:prstGeom prst="roundRect">
            <a:avLst>
              <a:gd name="adj" fmla="val 42857"/>
            </a:avLst>
          </a:prstGeom>
          <a:solidFill>
            <a:srgbClr val="93A1BD"/>
          </a:solidFill>
          <a:ln w="9525">
            <a:solidFill>
              <a:srgbClr val="93A1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9659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93A1BD"/>
                </a:solidFill>
                <a:latin typeface="Segoe UI"/>
              </a:rPr>
              <a:t>Сейчас: прототип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6032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93A1BD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Снимки и скриншоты, как в ТЗ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93A1BD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Один объект «ЖК Белый дом»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93A1BD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8 классов ТЗ плюс расширение таксономии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93A1BD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CPU, без GPU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06824" y="1691640"/>
            <a:ext cx="3566160" cy="3840480"/>
          </a:xfrm>
          <a:prstGeom prst="roundRect">
            <a:avLst>
              <a:gd name="adj" fmla="val 3076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06824" y="1691640"/>
            <a:ext cx="3566160" cy="64008"/>
          </a:xfrm>
          <a:prstGeom prst="roundRect">
            <a:avLst>
              <a:gd name="adj" fmla="val 42857"/>
            </a:avLst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81144" y="19659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0A5FA"/>
                </a:solidFill>
                <a:latin typeface="Segoe UI"/>
              </a:rPr>
              <a:t>Следующий шаг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56032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60A5FA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Реальные камеры: выгрузка раз в 20–30 минут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60A5FA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OCR штампа даты вместо ручного подтверждения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60A5FA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Дообучение YOLO на авторазметке, GPU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60A5FA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Временные ряды: потребность в технике по этапам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5008" y="1691640"/>
            <a:ext cx="3566160" cy="3840480"/>
          </a:xfrm>
          <a:prstGeom prst="roundRect">
            <a:avLst>
              <a:gd name="adj" fmla="val 3076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65008" y="1691640"/>
            <a:ext cx="3566160" cy="64008"/>
          </a:xfrm>
          <a:prstGeom prst="roundRect">
            <a:avLst>
              <a:gd name="adj" fmla="val 42857"/>
            </a:avLst>
          </a:prstGeom>
          <a:solidFill>
            <a:srgbClr val="34D399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9659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34D399"/>
                </a:solidFill>
                <a:latin typeface="Segoe UI"/>
              </a:rPr>
              <a:t>Развитие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560320"/>
            <a:ext cx="31089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34D399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Десятки объектов на «Участке надзора»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34D399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Встраивание модулем в систему Института генплана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34D399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Новые типы работ, классов техники и снимков</a:t>
            </a:r>
          </a:p>
          <a:p>
            <a:pPr marL="201168" indent="-201168">
              <a:lnSpc>
                <a:spcPct val="105000"/>
              </a:lnSpc>
              <a:spcAft>
                <a:spcPts val="1000"/>
              </a:spcAft>
              <a:buClr>
                <a:srgbClr val="34D399"/>
              </a:buClr>
              <a:buFont typeface="Arial"/>
              <a:buChar char="•"/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Аналитика по объектам и подрядчикам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715000"/>
            <a:ext cx="11091672" cy="548640"/>
          </a:xfrm>
          <a:prstGeom prst="roundRect">
            <a:avLst>
              <a:gd name="adj" fmla="val 20000"/>
            </a:avLst>
          </a:prstGeom>
          <a:solidFill>
            <a:srgbClr val="172643"/>
          </a:solidFill>
          <a:ln w="9525">
            <a:solidFill>
              <a:srgbClr val="2449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71500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EF2F8"/>
                </a:solidFill>
                <a:latin typeface="Segoe UI"/>
              </a:rPr>
              <a:t>Архитектура модульная: новый тип снимков, техники или плана добавляется без переписывания ядра.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17 · РЕКОМЕНДАЦИИ ПО КАМЕРАМ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Как установить камеры, чтобы аналитика была достоверной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651760" cy="2011680"/>
          </a:xfrm>
          <a:prstGeom prst="roundRect">
            <a:avLst>
              <a:gd name="adj" fmla="val 545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874520"/>
            <a:ext cx="347472" cy="34747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Фиксированный ракурс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На весь этап. Перемещение камеры обновляет привязку к зоне.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1691640"/>
            <a:ext cx="2651760" cy="2011680"/>
          </a:xfrm>
          <a:prstGeom prst="roundRect">
            <a:avLst>
              <a:gd name="adj" fmla="val 545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9584" y="1874520"/>
            <a:ext cx="347472" cy="34747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9584" y="235000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Охват работ и подъездов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288036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Иначе «нет техники» может значить «вне кадра».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691640"/>
            <a:ext cx="2651760" cy="2011680"/>
          </a:xfrm>
          <a:prstGeom prst="roundRect">
            <a:avLst>
              <a:gd name="adj" fmla="val 545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27648" y="1874520"/>
            <a:ext cx="347472" cy="34747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27648" y="235000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Минимум перекрытий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88036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Техника не должна закрываться другой техникой и конструкциями.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2832" y="1691640"/>
            <a:ext cx="2651760" cy="2011680"/>
          </a:xfrm>
          <a:prstGeom prst="roundRect">
            <a:avLst>
              <a:gd name="adj" fmla="val 545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25711" y="1874520"/>
            <a:ext cx="347472" cy="34747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1" y="235000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Крупный план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1" y="288036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Точность классификации быстро падает на мелких дальних объектах.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886200"/>
            <a:ext cx="2651760" cy="2011680"/>
          </a:xfrm>
          <a:prstGeom prst="roundRect">
            <a:avLst>
              <a:gd name="adj" fmla="val 545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31520" y="4069080"/>
            <a:ext cx="347472" cy="34747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54456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Свет в любое время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7492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Достаточное освещение ночью и в пасмурную погоду.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46704" y="3886200"/>
            <a:ext cx="2651760" cy="2011680"/>
          </a:xfrm>
          <a:prstGeom prst="roundRect">
            <a:avLst>
              <a:gd name="adj" fmla="val 545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9584" y="4069080"/>
            <a:ext cx="347472" cy="34747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9584" y="454456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Синхронное время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9584" y="507492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Штамп даты камеры должен совпадать с реальным временем.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44768" y="3886200"/>
            <a:ext cx="2651760" cy="2011680"/>
          </a:xfrm>
          <a:prstGeom prst="roundRect">
            <a:avLst>
              <a:gd name="adj" fmla="val 5454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27648" y="4069080"/>
            <a:ext cx="347472" cy="347472"/>
          </a:xfrm>
          <a:prstGeom prst="ellipse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 i="0">
                <a:solidFill>
                  <a:srgbClr val="0B0F1A"/>
                </a:solidFill>
                <a:latin typeface="Segoe U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454456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Актуальная привязка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5074920"/>
            <a:ext cx="22860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93A1BD"/>
                </a:solidFill>
                <a:latin typeface="Segoe UI"/>
              </a:rPr>
              <a:t>После переустановки камеры заново обвести зоны на кадре.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42832" y="3886200"/>
            <a:ext cx="2651760" cy="2011680"/>
          </a:xfrm>
          <a:prstGeom prst="roundRect">
            <a:avLst>
              <a:gd name="adj" fmla="val 5454"/>
            </a:avLst>
          </a:prstGeom>
          <a:solidFill>
            <a:srgbClr val="292A2A"/>
          </a:solidFill>
          <a:ln w="9525">
            <a:solidFill>
              <a:srgbClr val="7B64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25711" y="40690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FBBF24"/>
                </a:solidFill>
                <a:latin typeface="Segoe UI"/>
              </a:rPr>
              <a:t>Интервал и слепые зоны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25711" y="4434840"/>
            <a:ext cx="2286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 i="0">
                <a:solidFill>
                  <a:srgbClr val="EEF2F8"/>
                </a:solidFill>
                <a:latin typeface="Segoe UI"/>
              </a:rPr>
              <a:t>Снимок раз в 20–30 минут. Участки без камер система помечает: «вне контроля ИИ».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18 · СООТВЕТСТВИЕ ТЗ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Обязательные функции и пожелания заказчика закрыты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86400" cy="3749039"/>
          </a:xfrm>
          <a:prstGeom prst="roundRect">
            <a:avLst>
              <a:gd name="adj" fmla="val 2926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ОБЯЗАТЕЛЬНЫЕ ФУНКЦИИ (ТЗ, П. 2)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A"/>
                </a:solidFill>
                <a:latin typeface="Segoe U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276856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EF2F8"/>
                </a:solidFill>
                <a:latin typeface="Segoe UI"/>
              </a:rPr>
              <a:t>Обнаружение и классификация техники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551176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1BD"/>
                </a:solidFill>
                <a:latin typeface="Segoe UI"/>
              </a:rPr>
              <a:t>8 классов ТЗ плюс башенный кран, буровая, погрузчик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06324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A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54096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EF2F8"/>
                </a:solidFill>
                <a:latin typeface="Segoe UI"/>
              </a:rPr>
              <a:t>Сопоставление с графиком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28416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1BD"/>
                </a:solidFill>
                <a:latin typeface="Segoe UI"/>
              </a:rPr>
              <a:t>Правила «этап → техника × количество»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84048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A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31336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EF2F8"/>
                </a:solidFill>
                <a:latin typeface="Segoe UI"/>
              </a:rPr>
              <a:t>Визуализация результатов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105656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1BD"/>
                </a:solidFill>
                <a:latin typeface="Segoe UI"/>
              </a:rPr>
              <a:t>Веб-интерфейс и Android-приложение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61772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A"/>
                </a:solidFill>
                <a:latin typeface="Segoe U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608576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EF2F8"/>
                </a:solidFill>
                <a:latin typeface="Segoe UI"/>
              </a:rPr>
              <a:t>Выявление отклонений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882896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93A1BD"/>
                </a:solidFill>
                <a:latin typeface="Segoe UI"/>
              </a:rPr>
              <a:t>Семь типов, с объяснением и снимками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691640"/>
            <a:ext cx="5468112" cy="3749039"/>
          </a:xfrm>
          <a:prstGeom prst="roundRect">
            <a:avLst>
              <a:gd name="adj" fmla="val 2926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288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ПО ПРОСЬБАМ ЗАКАЗЧИКА (ВСТРЕЧА Q&amp;A)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228600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A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276856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EF2F8"/>
                </a:solidFill>
                <a:latin typeface="Segoe UI"/>
              </a:rPr>
              <a:t>Работает или простаивает: по зоне и сравнению кадров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278892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A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2779776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EF2F8"/>
                </a:solidFill>
                <a:latin typeface="Segoe UI"/>
              </a:rPr>
              <a:t>Стадия и готовность объекта по фотографии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329184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A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3282696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EF2F8"/>
                </a:solidFill>
                <a:latin typeface="Segoe UI"/>
              </a:rPr>
              <a:t>Прогноз задержки и вывод «в графике / отстаёт»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379476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A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3785616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EF2F8"/>
                </a:solidFill>
                <a:latin typeface="Segoe UI"/>
              </a:rPr>
              <a:t>Отчёт о ходе работ (PDF)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429768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A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4288536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EF2F8"/>
                </a:solidFill>
                <a:latin typeface="Segoe UI"/>
              </a:rPr>
              <a:t>Редактирование графика и правил, Excel-импорт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480060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0B0F1A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4791456"/>
            <a:ext cx="4617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EEF2F8"/>
                </a:solidFill>
                <a:latin typeface="Segoe UI"/>
              </a:rPr>
              <a:t>«Часть площадки вне контроля ИИ»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23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647190"/>
                </a:solidFill>
                <a:latin typeface="Segoe UI"/>
              </a:rPr>
              <a:t>СДАЧА (ТЗ, П. 7.2)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92531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E304C"/>
          </a:solidFill>
          <a:ln w="9525">
            <a:solidFill>
              <a:srgbClr val="3960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60A5FA"/>
                </a:solidFill>
                <a:latin typeface="Segoe UI"/>
              </a:rPr>
              <a:t>Репозиторий с кодом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52928" y="5925312"/>
            <a:ext cx="2286000" cy="347472"/>
          </a:xfrm>
          <a:prstGeom prst="roundRect">
            <a:avLst>
              <a:gd name="adj" fmla="val 50000"/>
            </a:avLst>
          </a:prstGeom>
          <a:solidFill>
            <a:srgbClr val="1E304C"/>
          </a:solidFill>
          <a:ln w="9525">
            <a:solidFill>
              <a:srgbClr val="3960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60A5FA"/>
                </a:solidFill>
                <a:latin typeface="Segoe UI"/>
              </a:rPr>
              <a:t>Работающий прототип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48656" y="5925312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E304C"/>
          </a:solidFill>
          <a:ln w="9525">
            <a:solidFill>
              <a:srgbClr val="3960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60A5FA"/>
                </a:solidFill>
                <a:latin typeface="Segoe UI"/>
              </a:rPr>
              <a:t>Презентация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552944" y="5925312"/>
            <a:ext cx="2468880" cy="347472"/>
          </a:xfrm>
          <a:prstGeom prst="roundRect">
            <a:avLst>
              <a:gd name="adj" fmla="val 50000"/>
            </a:avLst>
          </a:prstGeom>
          <a:solidFill>
            <a:srgbClr val="1E304C"/>
          </a:solidFill>
          <a:ln w="9525">
            <a:solidFill>
              <a:srgbClr val="3960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100" b="1" i="0">
                <a:solidFill>
                  <a:srgbClr val="60A5FA"/>
                </a:solidFill>
                <a:latin typeface="Segoe UI"/>
              </a:rPr>
              <a:t>Документация, Docker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19 · 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BuildVision: контроль стройки, который можно проверить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8253C"/>
          </a:solidFill>
          <a:ln w="9525">
            <a:solidFill>
              <a:srgbClr val="3152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0116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60A5FA"/>
                </a:solidFill>
                <a:latin typeface="Segoe UI"/>
              </a:rPr>
              <a:t>Объяснимо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9748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EEF2F8"/>
                </a:solidFill>
                <a:latin typeface="Segoe UI"/>
              </a:rPr>
              <a:t>Каждое предупреждение: этап, правило, число против плана и снимки-доказательства.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17830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52934"/>
          </a:solidFill>
          <a:ln w="9525">
            <a:solidFill>
              <a:srgbClr val="2064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0116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34D399"/>
                </a:solidFill>
                <a:latin typeface="Segoe UI"/>
              </a:rPr>
              <a:t>Честно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269748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EEF2F8"/>
                </a:solidFill>
                <a:latin typeface="Segoe UI"/>
              </a:rPr>
              <a:t>«Недостаточно данных» вместо вымысла, реальные метрики, демо помечено как демо.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65008" y="178308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13293B"/>
          </a:solidFill>
          <a:ln w="9525">
            <a:solidFill>
              <a:srgbClr val="1864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9328" y="20116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2D3EE"/>
                </a:solidFill>
                <a:latin typeface="Segoe UI"/>
              </a:rPr>
              <a:t>Готово к контуру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9328" y="2697480"/>
            <a:ext cx="3017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EEF2F8"/>
                </a:solidFill>
                <a:latin typeface="Segoe UI"/>
              </a:rPr>
              <a:t>CPU, Docker, ядро без интернета, подключаемые модель и погода.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297680"/>
            <a:ext cx="11091672" cy="1737360"/>
          </a:xfrm>
          <a:prstGeom prst="roundRect">
            <a:avLst>
              <a:gd name="adj" fmla="val 6315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480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ПРОТОТИП И МАТЕРИАЛЫ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46320"/>
            <a:ext cx="104241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800"/>
              </a:spcAft>
              <a:buClr>
                <a:srgbClr val="60A5FA"/>
              </a:buClr>
              <a:buFont typeface="Arial"/>
              <a:buChar char="•"/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Прототип: </a:t>
            </a:r>
            <a:r>
              <a:rPr sz="1300" b="0" i="0">
                <a:solidFill>
                  <a:srgbClr val="60A5FA"/>
                </a:solidFill>
                <a:latin typeface="Segoe UI"/>
              </a:rPr>
              <a:t>https://eksupernova.su</a:t>
            </a:r>
          </a:p>
          <a:p>
            <a:pPr marL="201168" indent="-201168">
              <a:lnSpc>
                <a:spcPct val="105000"/>
              </a:lnSpc>
              <a:spcAft>
                <a:spcPts val="800"/>
              </a:spcAft>
              <a:buClr>
                <a:srgbClr val="60A5FA"/>
              </a:buClr>
              <a:buFont typeface="Arial"/>
              <a:buChar char="•"/>
            </a:pPr>
            <a:r>
              <a:rPr sz="1300" b="1" i="0">
                <a:solidFill>
                  <a:srgbClr val="EEF2F8"/>
                </a:solidFill>
                <a:latin typeface="Segoe UI"/>
              </a:rPr>
              <a:t>Репозиторий: </a:t>
            </a:r>
            <a:r>
              <a:rPr sz="1300" b="0" i="0">
                <a:solidFill>
                  <a:srgbClr val="FBBF24"/>
                </a:solidFill>
                <a:latin typeface="Segoe UI"/>
              </a:rPr>
              <a:t>[вставьте ссылку на репозиторий]</a:t>
            </a:r>
          </a:p>
          <a:p>
            <a:pPr marL="201168" indent="-201168">
              <a:lnSpc>
                <a:spcPct val="105000"/>
              </a:lnSpc>
              <a:spcAft>
                <a:spcPts val="800"/>
              </a:spcAft>
              <a:buClr>
                <a:srgbClr val="60A5FA"/>
              </a:buClr>
              <a:buFont typeface="Arial"/>
              <a:buChar char="•"/>
            </a:pPr>
            <a:r>
              <a:rPr sz="1300" b="1" i="0">
                <a:solidFill>
                  <a:srgbClr val="EEF2F8"/>
                </a:solidFill>
                <a:latin typeface="Segoe UI"/>
              </a:rPr>
              <a:t>Документация: </a:t>
            </a:r>
            <a:r>
              <a:rPr sz="1300" b="0" i="0">
                <a:solidFill>
                  <a:srgbClr val="EEF2F8"/>
                </a:solidFill>
                <a:latin typeface="Segoe UI"/>
              </a:rPr>
              <a:t>docs/PROJECT_DOCUMENTATION.md, отчёт о качестве детектора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РЕЗЕРВ A · МОДЕЛЬ ДАННЫХ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Как хранится информация о технике, этапах и отклонениях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651760" cy="4206240"/>
          </a:xfrm>
          <a:prstGeom prst="roundRect">
            <a:avLst>
              <a:gd name="adj" fmla="val 4137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2651760" cy="64008"/>
          </a:xfrm>
          <a:prstGeom prst="roundRect">
            <a:avLst>
              <a:gd name="adj" fmla="val 42857"/>
            </a:avLst>
          </a:prstGeom>
          <a:solidFill>
            <a:srgbClr val="60A5FA"/>
          </a:solidFill>
          <a:ln w="9525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60A5FA"/>
                </a:solidFill>
                <a:latin typeface="Segoe UI"/>
              </a:rPr>
              <a:t>Проект и график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23317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60A5FA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Площадка (ConstructionSite)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60A5FA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Зона, Камера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60A5FA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Этап (Stage)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60A5FA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Правило этапа (StageRule)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60A5FA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Обязательная техника с количеством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1691640"/>
            <a:ext cx="2651760" cy="4206240"/>
          </a:xfrm>
          <a:prstGeom prst="roundRect">
            <a:avLst>
              <a:gd name="adj" fmla="val 4137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46704" y="1691640"/>
            <a:ext cx="2651760" cy="64008"/>
          </a:xfrm>
          <a:prstGeom prst="roundRect">
            <a:avLst>
              <a:gd name="adj" fmla="val 42857"/>
            </a:avLst>
          </a:prstGeom>
          <a:solidFill>
            <a:srgbClr val="34D399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9584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34D399"/>
                </a:solidFill>
                <a:latin typeface="Segoe UI"/>
              </a:rPr>
              <a:t>Справочники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9584" y="2423160"/>
            <a:ext cx="23317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34D399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Класс техники (VocabularyClass)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34D399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Путаемая пара классов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34D399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Известное ограничение качества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34D399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Погодное правило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34D399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Настройки сопоставления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1691640"/>
            <a:ext cx="2651760" cy="4206240"/>
          </a:xfrm>
          <a:prstGeom prst="roundRect">
            <a:avLst>
              <a:gd name="adj" fmla="val 4137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44768" y="1691640"/>
            <a:ext cx="2651760" cy="64008"/>
          </a:xfrm>
          <a:prstGeom prst="roundRect">
            <a:avLst>
              <a:gd name="adj" fmla="val 42857"/>
            </a:avLst>
          </a:prstGeom>
          <a:solidFill>
            <a:srgbClr val="FBBF24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FBBF24"/>
                </a:solidFill>
                <a:latin typeface="Segoe UI"/>
              </a:rPr>
              <a:t>Наблюдения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2423160"/>
            <a:ext cx="23317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FBBF24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Наблюдение (Observation): снимок, дата, статус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FBBF24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Обнаружение (Detection): класс, рамка, уверенность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FBBF24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Проверка этапа: Plan vs Fact, чего не хватило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FBBF24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История погодных рисков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FBBF24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Отклонения: жизненный цикл, кадр «до» и «после»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2832" y="1691640"/>
            <a:ext cx="2651760" cy="4206240"/>
          </a:xfrm>
          <a:prstGeom prst="roundRect">
            <a:avLst>
              <a:gd name="adj" fmla="val 4137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942832" y="1691640"/>
            <a:ext cx="2651760" cy="64008"/>
          </a:xfrm>
          <a:prstGeom prst="roundRect">
            <a:avLst>
              <a:gd name="adj" fmla="val 42857"/>
            </a:avLst>
          </a:prstGeom>
          <a:solidFill>
            <a:srgbClr val="C084FC"/>
          </a:solidFill>
          <a:ln w="9525">
            <a:solidFill>
              <a:srgbClr val="C084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25711" y="192024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C084FC"/>
                </a:solidFill>
                <a:latin typeface="Segoe UI"/>
              </a:rPr>
              <a:t>Обучение и доступ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1" y="2423160"/>
            <a:ext cx="233172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C084FC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Коррекция инженера (Correction)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C084FC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Версия модели (ModelVersion): кандидат, рабочая, архив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C084FC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Профиль пользователя и роль</a:t>
            </a:r>
          </a:p>
          <a:p>
            <a:pPr marL="201168" indent="-201168">
              <a:lnSpc>
                <a:spcPct val="105000"/>
              </a:lnSpc>
              <a:spcAft>
                <a:spcPts val="700"/>
              </a:spcAft>
              <a:buClr>
                <a:srgbClr val="C084FC"/>
              </a:buClr>
              <a:buFont typeface="Arial"/>
              <a:buChar char="•"/>
            </a:pPr>
            <a:r>
              <a:rPr sz="1050" b="0" i="0">
                <a:solidFill>
                  <a:srgbClr val="EEF2F8"/>
                </a:solidFill>
                <a:latin typeface="Segoe UI"/>
              </a:rPr>
              <a:t>Членство в проекте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РЕЗЕРВ B · УСЛОВИЯ И ОГРАНИЧЕНИЯ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Что мы честно не заявляем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96596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1400"/>
              </a:spcAft>
              <a:buClr>
                <a:srgbClr val="FBBF24"/>
              </a:buClr>
              <a:buFont typeface="Arial"/>
              <a:buChar char="•"/>
            </a:pPr>
            <a:r>
              <a:rPr sz="1300" b="0" i="0">
                <a:solidFill>
                  <a:srgbClr val="EEF2F8"/>
                </a:solidFill>
                <a:latin typeface="Segoe UI"/>
              </a:rPr>
              <a:t>Метрики детектора: уровень присутствия класса на 20 снимках, это не mAP</a:t>
            </a:r>
          </a:p>
          <a:p>
            <a:pPr marL="201168" indent="-201168">
              <a:lnSpc>
                <a:spcPct val="105000"/>
              </a:lnSpc>
              <a:spcAft>
                <a:spcPts val="1400"/>
              </a:spcAft>
              <a:buClr>
                <a:srgbClr val="FBBF24"/>
              </a:buClr>
              <a:buFont typeface="Arial"/>
              <a:buChar char="•"/>
            </a:pPr>
            <a:r>
              <a:rPr sz="1300" b="0" i="0">
                <a:solidFill>
                  <a:srgbClr val="EEF2F8"/>
                </a:solidFill>
                <a:latin typeface="Segoe UI"/>
              </a:rPr>
              <a:t>Датасет: 100 снимков заказчика без разметки; график и координаты площадки демонстрационные</a:t>
            </a:r>
          </a:p>
          <a:p>
            <a:pPr marL="201168" indent="-201168">
              <a:lnSpc>
                <a:spcPct val="105000"/>
              </a:lnSpc>
              <a:spcAft>
                <a:spcPts val="1400"/>
              </a:spcAft>
              <a:buClr>
                <a:srgbClr val="FBBF24"/>
              </a:buClr>
              <a:buFont typeface="Arial"/>
              <a:buChar char="•"/>
            </a:pPr>
            <a:r>
              <a:rPr sz="1300" b="0" i="0">
                <a:solidFill>
                  <a:srgbClr val="EEF2F8"/>
                </a:solidFill>
                <a:latin typeface="Segoe UI"/>
              </a:rPr>
              <a:t>Реального видеопотока нет: работаем со снимками, как в ТЗ</a:t>
            </a:r>
          </a:p>
          <a:p>
            <a:pPr marL="201168" indent="-201168">
              <a:lnSpc>
                <a:spcPct val="105000"/>
              </a:lnSpc>
              <a:spcAft>
                <a:spcPts val="1400"/>
              </a:spcAft>
              <a:buClr>
                <a:srgbClr val="FBBF24"/>
              </a:buClr>
              <a:buFont typeface="Arial"/>
              <a:buChar char="•"/>
            </a:pPr>
            <a:r>
              <a:rPr sz="1300" b="0" i="0">
                <a:solidFill>
                  <a:srgbClr val="EEF2F8"/>
                </a:solidFill>
                <a:latin typeface="Segoe UI"/>
              </a:rPr>
              <a:t>Дата с штампа кадра требует подтверждения человеком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91640"/>
            <a:ext cx="5440680" cy="4023360"/>
          </a:xfrm>
          <a:prstGeom prst="roundRect">
            <a:avLst>
              <a:gd name="adj" fmla="val 2727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73952" y="1965960"/>
            <a:ext cx="49377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01168" indent="-201168">
              <a:lnSpc>
                <a:spcPct val="105000"/>
              </a:lnSpc>
              <a:spcAft>
                <a:spcPts val="1400"/>
              </a:spcAft>
              <a:buClr>
                <a:srgbClr val="FBBF24"/>
              </a:buClr>
              <a:buFont typeface="Arial"/>
              <a:buChar char="•"/>
            </a:pPr>
            <a:r>
              <a:rPr sz="1300" b="0" i="0">
                <a:solidFill>
                  <a:srgbClr val="EEF2F8"/>
                </a:solidFill>
                <a:latin typeface="Segoe UI"/>
              </a:rPr>
              <a:t>Прогноз срока: расчётная эвристика по доле подтверждённых наблюдений, не ML</a:t>
            </a:r>
          </a:p>
          <a:p>
            <a:pPr marL="201168" indent="-201168">
              <a:lnSpc>
                <a:spcPct val="105000"/>
              </a:lnSpc>
              <a:spcAft>
                <a:spcPts val="1400"/>
              </a:spcAft>
              <a:buClr>
                <a:srgbClr val="FBBF24"/>
              </a:buClr>
              <a:buFont typeface="Arial"/>
              <a:buChar char="•"/>
            </a:pPr>
            <a:r>
              <a:rPr sz="1300" b="0" i="0">
                <a:solidFill>
                  <a:srgbClr val="EEF2F8"/>
                </a:solidFill>
                <a:latin typeface="Segoe UI"/>
              </a:rPr>
              <a:t>Weather: правила поверх прогноза Open-Meteo, не собственная модель погоды</a:t>
            </a:r>
          </a:p>
          <a:p>
            <a:pPr marL="201168" indent="-201168">
              <a:lnSpc>
                <a:spcPct val="105000"/>
              </a:lnSpc>
              <a:spcAft>
                <a:spcPts val="1400"/>
              </a:spcAft>
              <a:buClr>
                <a:srgbClr val="FBBF24"/>
              </a:buClr>
              <a:buFont typeface="Arial"/>
              <a:buChar char="•"/>
            </a:pPr>
            <a:r>
              <a:rPr sz="1300" b="0" i="0">
                <a:solidFill>
                  <a:srgbClr val="EEF2F8"/>
                </a:solidFill>
                <a:latin typeface="Segoe UI"/>
              </a:rPr>
              <a:t>Рамки ИИ-разметки приблизительные; в демо языковая модель облачная</a:t>
            </a:r>
          </a:p>
          <a:p>
            <a:pPr marL="201168" indent="-201168">
              <a:lnSpc>
                <a:spcPct val="105000"/>
              </a:lnSpc>
              <a:spcAft>
                <a:spcPts val="1400"/>
              </a:spcAft>
              <a:buClr>
                <a:srgbClr val="FBBF24"/>
              </a:buClr>
              <a:buFont typeface="Arial"/>
              <a:buChar char="•"/>
            </a:pPr>
            <a:r>
              <a:rPr sz="1300" b="0" i="0">
                <a:solidFill>
                  <a:srgbClr val="EEF2F8"/>
                </a:solidFill>
                <a:latin typeface="Segoe UI"/>
              </a:rPr>
              <a:t>Push-уведомлений нет; классы «самосвал» и «автобетоносмеситель» требуют ручной проверки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329184" cy="457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1" i="0">
                <a:solidFill>
                  <a:srgbClr val="60A5FA"/>
                </a:solidFill>
                <a:latin typeface="Segoe UI"/>
              </a:rPr>
              <a:t>РЕЗЕРВ C · ВОПРОСЫ ЖЮРИ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EEF2F8"/>
                </a:solidFill>
                <a:latin typeface="Segoe UI"/>
              </a:rPr>
              <a:t>Готовые ответы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1051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Почему плохо с самосвалом?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93A1BD"/>
                </a:solidFill>
                <a:latin typeface="Segoe UI"/>
              </a:rPr>
              <a:t>Zero-shot даёт ложные срабатывания на фоне. Мы это измерили, показываем «Недостаточно данных» и дообучаем корректор.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1" y="169164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1" y="181051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Что значит «локально»?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8231" y="214884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93A1BD"/>
                </a:solidFill>
                <a:latin typeface="Segoe UI"/>
              </a:rPr>
              <a:t>Ядро работает без интернета на CPU. Языковой слой подключаемый: в контуре локальная модель через тот же API.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31927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Как определяете работу и простой по фото?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5760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93A1BD"/>
                </a:solidFill>
                <a:latin typeface="Segoe UI"/>
              </a:rPr>
              <a:t>Зона кадра плюс сравнение с соседними кадрами. Не уверены — «определить нельзя».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320040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331927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Что если часть площадки не видна?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365760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93A1BD"/>
                </a:solidFill>
                <a:latin typeface="Segoe UI"/>
              </a:rPr>
              <a:t>Предупреждение «вне контроля ИИ, проверить вручную», как советовал заказчик.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0916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82803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Прогноз срока — это ML?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6636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93A1BD"/>
                </a:solidFill>
                <a:latin typeface="Segoe UI"/>
              </a:rPr>
              <a:t>Нет, расчётный движок: критический путь и темп по наблюдениям, с объяснением.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1" y="470916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121A2B"/>
          </a:solidFill>
          <a:ln w="9525">
            <a:solidFill>
              <a:srgbClr val="2C3A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1" y="4828032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60A5FA"/>
                </a:solidFill>
                <a:latin typeface="Segoe UI"/>
              </a:rPr>
              <a:t>Как масштабируется?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5166360"/>
            <a:ext cx="49834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0">
                <a:solidFill>
                  <a:srgbClr val="93A1BD"/>
                </a:solidFill>
                <a:latin typeface="Segoe UI"/>
              </a:rPr>
              <a:t>Один общий воркер модели, «Участок надзора» на десятки объектов, GPU и горизонтальное масштабирование.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BuildVision · Лидеры цифровой трансформации 2026 · Задача №7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71455" y="647395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 i="0">
                <a:solidFill>
                  <a:srgbClr val="647190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